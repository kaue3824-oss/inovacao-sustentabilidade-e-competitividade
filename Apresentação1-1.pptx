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E89"/>
    <a:srgbClr val="A9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79BD7-27CD-DDF6-EBEB-B225AEC62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E9D0AC-431B-B3BD-ADCD-F0C516972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08078C-B347-ED68-6E90-CF071C839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BB7009-32B9-23E7-087A-67088F22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FD5C26-3B17-1D3A-3FAD-B4B82DF8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60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6011E-EF4E-C993-2E6F-CBFE466A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3B57B5-7D4B-8849-6BD1-F7960682C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E6D5DD-D594-D27B-4885-F4C448C2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790812-3611-A459-39FF-4226E61D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75C5BF-6C22-9014-16BE-D4A99022F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76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64956-D7E1-B556-1BD4-417B5EE41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445038-9240-03D4-73E9-457717C41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0DD3EF-9136-05C3-7AFD-28FB97D2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08D517-293D-6942-E2AC-D7FAF614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87FE33-0D5D-4548-4A20-4074006B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5046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DBE43-FD79-15CA-E90F-F1AB6DE3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10493-BC14-E6A7-9572-D83FB5DB4B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5654EB-2611-22AD-8915-F2110505F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FEFE36-9F98-4D70-94ED-DE557C38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9A23BD-26EA-343A-B994-2E16924CD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A96970-9534-CFE2-4324-C771AC36E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432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34EAB-6C32-D824-852A-AE42C370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5F255B-81A8-508A-14A3-79D25CE86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23CD42-E2FC-74FC-CE3F-34F8BA68E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C18B4E9-7555-1675-C8BF-165854FF1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636BE9-1769-9A14-9A42-F26C29C5A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34FF93-08AB-05AF-EE27-E159BFC4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0B6482A-9508-8F0A-41FC-B618210F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C2DCBC1-1EF8-44B1-A2DA-0AF8A593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07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4896E-FA3B-EEF4-7F78-5F263159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BF60169-CFA7-6C66-1205-17245314E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D3F046-0A9F-FDE9-A8B3-8DD6F14DA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A0B30A-F3CE-60EB-5C26-1A2899D0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850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E77B051-DD03-D2FA-365B-57BDE103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76134FA-44B8-E23E-CF80-1D9EE66CE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744254-4279-5276-B32C-E3EA8AE2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7432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2BF33-B361-E188-93D0-6D8E40F10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A2610-F72E-D50C-180B-27DE5124F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44CD21-0BF1-3B7C-4029-B45340D8C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4C629D-CD30-B549-3466-67A957D5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3054C-6096-B9A1-3AC4-C59C4742B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30C504-B517-DED6-8233-97ACC86F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873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6320A-23B0-620F-C69C-06794272A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FC180FC-555A-558E-B27D-6EDC78ADE2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512AD7-39E4-8C86-5073-B5198F6C9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D6DD83-F10D-1E49-5BAE-289BAB5C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9919FE-2943-8A34-34CF-C6EE907A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8EA8C0-6E22-41B2-BB1F-2CD3031E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403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8E78B-8784-40B9-77D7-E4473138E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5DB363-D2D0-9FEF-32E3-972417695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775BF2-2BE5-6ED2-05E6-388A670BA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C12F23-1DBD-6AB1-3046-215472B1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DFA736-8EE1-C1F8-57B9-37E77D0A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243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839DCA-9449-F2AF-064E-1FC93F1DD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581694-7E49-438F-EAF2-25E1FB001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B5868C-E461-1327-E13A-224D5B2F1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FCE137-DBE2-9BE2-C64A-5AA564F40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A6C7AB-4F38-740A-1C08-E3AECB16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89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F82798F-6475-B201-2F2F-791FBCED5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5FCC64-8F9D-BB22-5323-C2544AB6B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FEB01D-B350-BC4C-8342-835C49F2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2C6CC2-94EA-44CB-A4EC-1B27146BF0A6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145D75-B1C4-F9E0-F7F8-828A419CA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6338B8-D3D4-2E3E-0FAD-D3723D756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1F336-DE4E-4061-9AB4-11B9B95B4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7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17/06/relationships/model3d" Target="../media/model3d2.glb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1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17" Type="http://schemas.microsoft.com/office/2017/06/relationships/model3d" Target="../media/model3d2.glb"/><Relationship Id="rId2" Type="http://schemas.openxmlformats.org/officeDocument/2006/relationships/image" Target="../media/image2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microsoft.com/office/2017/06/relationships/model3d" Target="../media/model3d1.glb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17/06/relationships/model3d" Target="../media/model3d1.glb"/><Relationship Id="rId3" Type="http://schemas.openxmlformats.org/officeDocument/2006/relationships/image" Target="../media/image9.svg"/><Relationship Id="rId7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4.png"/><Relationship Id="rId5" Type="http://schemas.openxmlformats.org/officeDocument/2006/relationships/image" Target="../media/image12.svg"/><Relationship Id="rId10" Type="http://schemas.microsoft.com/office/2017/06/relationships/model3d" Target="../media/model3d2.glb"/><Relationship Id="rId4" Type="http://schemas.openxmlformats.org/officeDocument/2006/relationships/image" Target="../media/image10.sv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17/06/relationships/model3d" Target="../media/model3d1.glb"/><Relationship Id="rId3" Type="http://schemas.openxmlformats.org/officeDocument/2006/relationships/image" Target="../media/image18.svg"/><Relationship Id="rId7" Type="http://schemas.openxmlformats.org/officeDocument/2006/relationships/image" Target="../media/image14.svg"/><Relationship Id="rId12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4.png"/><Relationship Id="rId5" Type="http://schemas.openxmlformats.org/officeDocument/2006/relationships/image" Target="../media/image20.svg"/><Relationship Id="rId10" Type="http://schemas.microsoft.com/office/2017/06/relationships/model3d" Target="../media/model3d2.glb"/><Relationship Id="rId4" Type="http://schemas.openxmlformats.org/officeDocument/2006/relationships/image" Target="../media/image19.sv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microsoft.com/office/2017/06/relationships/model3d" Target="../media/model3d1.glb"/><Relationship Id="rId7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17/06/relationships/model3d" Target="../media/model3d2.glb"/><Relationship Id="rId4" Type="http://schemas.openxmlformats.org/officeDocument/2006/relationships/image" Target="../media/image3.pn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13" Type="http://schemas.openxmlformats.org/officeDocument/2006/relationships/image" Target="../media/image33.png"/><Relationship Id="rId3" Type="http://schemas.microsoft.com/office/2017/06/relationships/model3d" Target="../media/model3d1.glb"/><Relationship Id="rId7" Type="http://schemas.openxmlformats.org/officeDocument/2006/relationships/image" Target="../media/image27.png"/><Relationship Id="rId12" Type="http://schemas.openxmlformats.org/officeDocument/2006/relationships/image" Target="../media/image3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microsoft.com/office/2017/06/relationships/model3d" Target="../media/model3d2.glb"/><Relationship Id="rId15" Type="http://schemas.openxmlformats.org/officeDocument/2006/relationships/image" Target="../media/image35.svg"/><Relationship Id="rId10" Type="http://schemas.openxmlformats.org/officeDocument/2006/relationships/image" Target="../media/image30.jpeg"/><Relationship Id="rId4" Type="http://schemas.openxmlformats.org/officeDocument/2006/relationships/image" Target="../media/image25.png"/><Relationship Id="rId9" Type="http://schemas.openxmlformats.org/officeDocument/2006/relationships/image" Target="../media/image29.jpeg"/><Relationship Id="rId1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7A83FA7-8AFE-E178-1D5D-580664147C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3E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30" name="Picture 6" descr="Nenhuma descrição de foto disponível.">
            <a:extLst>
              <a:ext uri="{FF2B5EF4-FFF2-40B4-BE49-F238E27FC236}">
                <a16:creationId xmlns:a16="http://schemas.microsoft.com/office/drawing/2014/main" id="{7E3F031C-C441-C1EC-295A-1A7E51B2D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1264708"/>
            <a:ext cx="5276850" cy="527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1185F2A-947F-371B-EAC2-AD5C805447A1}"/>
              </a:ext>
            </a:extLst>
          </p:cNvPr>
          <p:cNvSpPr txBox="1"/>
          <p:nvPr/>
        </p:nvSpPr>
        <p:spPr>
          <a:xfrm>
            <a:off x="5568950" y="725633"/>
            <a:ext cx="63288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Inovação Sustentabilidade e Competitividade Empresarial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6F54A62-C3FD-5278-863D-EAB0CA293C73}"/>
              </a:ext>
            </a:extLst>
          </p:cNvPr>
          <p:cNvSpPr txBox="1"/>
          <p:nvPr/>
        </p:nvSpPr>
        <p:spPr>
          <a:xfrm>
            <a:off x="5568950" y="3772621"/>
            <a:ext cx="50884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Avaliação A3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F7A78E9-10C8-0383-BF4A-62F9F26C7775}"/>
              </a:ext>
            </a:extLst>
          </p:cNvPr>
          <p:cNvSpPr txBox="1"/>
          <p:nvPr/>
        </p:nvSpPr>
        <p:spPr>
          <a:xfrm>
            <a:off x="6957483" y="4953673"/>
            <a:ext cx="5088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i="1" dirty="0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George </a:t>
            </a:r>
            <a:r>
              <a:rPr lang="pt-BR" sz="1200" i="1" dirty="0" err="1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Geronimo</a:t>
            </a:r>
            <a:r>
              <a:rPr lang="pt-BR" sz="1200" i="1" dirty="0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 Menezes Ferreira - 824148488</a:t>
            </a:r>
          </a:p>
          <a:p>
            <a:pPr algn="r"/>
            <a:r>
              <a:rPr lang="pt-BR" sz="1200" i="1" dirty="0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Henrique Alves Fernandes Teixeira - 825150807</a:t>
            </a:r>
          </a:p>
          <a:p>
            <a:pPr algn="r"/>
            <a:r>
              <a:rPr lang="pt-BR" sz="1200" i="1" dirty="0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Kauê Soares dos Santos – 824117267</a:t>
            </a:r>
          </a:p>
          <a:p>
            <a:pPr algn="r"/>
            <a:r>
              <a:rPr lang="pt-BR" sz="1200" i="1" dirty="0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Paulo da Silva </a:t>
            </a:r>
            <a:r>
              <a:rPr lang="pt-BR" sz="1200" i="1" dirty="0" err="1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Passiano</a:t>
            </a:r>
            <a:r>
              <a:rPr lang="pt-BR" sz="1200" i="1" dirty="0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 - 824219946</a:t>
            </a:r>
          </a:p>
          <a:p>
            <a:pPr algn="r"/>
            <a:r>
              <a:rPr lang="pt-BR" sz="1200" i="1" dirty="0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Pedro Henrique Pires dos Santos - 824135444</a:t>
            </a:r>
          </a:p>
          <a:p>
            <a:pPr algn="r"/>
            <a:r>
              <a:rPr lang="pt-BR" sz="1200" i="1" dirty="0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Yasmin Johan Cavalcante </a:t>
            </a:r>
            <a:r>
              <a:rPr lang="pt-BR" sz="1200" i="1" dirty="0" err="1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Rehem</a:t>
            </a:r>
            <a:r>
              <a:rPr lang="pt-BR" sz="1200" i="1" dirty="0">
                <a:solidFill>
                  <a:schemeClr val="bg1"/>
                </a:solidFill>
                <a:latin typeface="Lucida Fax" panose="02060602050505020204" pitchFamily="18" charset="0"/>
                <a:cs typeface="Times New Roman" panose="02020603050405020304" pitchFamily="18" charset="0"/>
              </a:rPr>
              <a:t> - 822230708</a:t>
            </a:r>
          </a:p>
        </p:txBody>
      </p:sp>
    </p:spTree>
    <p:extLst>
      <p:ext uri="{BB962C8B-B14F-4D97-AF65-F5344CB8AC3E}">
        <p14:creationId xmlns:p14="http://schemas.microsoft.com/office/powerpoint/2010/main" val="2387677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7A83FA7-8AFE-E178-1D5D-580664147C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3E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83B5D6C-AC96-0DD1-AD83-943E571D3428}"/>
              </a:ext>
            </a:extLst>
          </p:cNvPr>
          <p:cNvSpPr/>
          <p:nvPr/>
        </p:nvSpPr>
        <p:spPr>
          <a:xfrm>
            <a:off x="135467" y="0"/>
            <a:ext cx="12056533" cy="6688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Universidade São Judas Tadeu (USJT) - Lideranças Políticas NEAMP">
            <a:extLst>
              <a:ext uri="{FF2B5EF4-FFF2-40B4-BE49-F238E27FC236}">
                <a16:creationId xmlns:a16="http://schemas.microsoft.com/office/drawing/2014/main" id="{C7A64F05-C5CD-7144-A53A-F8169DD8E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933" y="6203358"/>
            <a:ext cx="863600" cy="379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6C2883A-1DAD-7B4A-1CFB-4DD4146C247C}"/>
              </a:ext>
            </a:extLst>
          </p:cNvPr>
          <p:cNvSpPr/>
          <p:nvPr/>
        </p:nvSpPr>
        <p:spPr>
          <a:xfrm>
            <a:off x="396953" y="330199"/>
            <a:ext cx="45719" cy="587141"/>
          </a:xfrm>
          <a:prstGeom prst="rect">
            <a:avLst/>
          </a:prstGeom>
          <a:solidFill>
            <a:srgbClr val="A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B8E4E4-0BAA-40FC-2A7A-D24E88353F87}"/>
              </a:ext>
            </a:extLst>
          </p:cNvPr>
          <p:cNvSpPr txBox="1"/>
          <p:nvPr/>
        </p:nvSpPr>
        <p:spPr>
          <a:xfrm>
            <a:off x="442672" y="362159"/>
            <a:ext cx="398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</a:rPr>
              <a:t>CONECTA FÁCIL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CFB977-F112-E90A-6ED6-2D1FAC8757D0}"/>
              </a:ext>
            </a:extLst>
          </p:cNvPr>
          <p:cNvSpPr txBox="1"/>
          <p:nvPr/>
        </p:nvSpPr>
        <p:spPr>
          <a:xfrm>
            <a:off x="5850467" y="3693392"/>
            <a:ext cx="609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“Conectando quem mais precisa de ajuda a quem vive de ajudar”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Lâmpada de Led Fluorescente">
                <a:extLst>
                  <a:ext uri="{FF2B5EF4-FFF2-40B4-BE49-F238E27FC236}">
                    <a16:creationId xmlns:a16="http://schemas.microsoft.com/office/drawing/2014/main" id="{AD80F69B-DCC9-0D82-DEB1-78DEB2B4A86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52690473"/>
                  </p:ext>
                </p:extLst>
              </p:nvPr>
            </p:nvGraphicFramePr>
            <p:xfrm>
              <a:off x="3548687" y="330199"/>
              <a:ext cx="267220" cy="47081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67220" cy="470816"/>
                    </a:xfrm>
                    <a:prstGeom prst="rect">
                      <a:avLst/>
                    </a:prstGeom>
                  </am3d:spPr>
                  <am3d:camera>
                    <am3d:pos x="0" y="0" z="603549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99330" d="1000000"/>
                    <am3d:preTrans dx="163" dy="123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6235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Lâmpada de Led Fluorescente">
                <a:extLst>
                  <a:ext uri="{FF2B5EF4-FFF2-40B4-BE49-F238E27FC236}">
                    <a16:creationId xmlns:a16="http://schemas.microsoft.com/office/drawing/2014/main" id="{AD80F69B-DCC9-0D82-DEB1-78DEB2B4A8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8687" y="330199"/>
                <a:ext cx="267220" cy="4708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Modelo 3D 9" descr="Alicates">
                <a:extLst>
                  <a:ext uri="{FF2B5EF4-FFF2-40B4-BE49-F238E27FC236}">
                    <a16:creationId xmlns:a16="http://schemas.microsoft.com/office/drawing/2014/main" id="{CC8BF8C2-3B1C-2B8F-04A0-616C78BA61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29451948"/>
                  </p:ext>
                </p:extLst>
              </p:nvPr>
            </p:nvGraphicFramePr>
            <p:xfrm>
              <a:off x="3609937" y="544938"/>
              <a:ext cx="682873" cy="512154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682873" cy="512154"/>
                    </a:xfrm>
                    <a:prstGeom prst="rect">
                      <a:avLst/>
                    </a:prstGeom>
                  </am3d:spPr>
                  <am3d:camera>
                    <am3d:pos x="0" y="0" z="56531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94235" d="1000000"/>
                    <am3d:preTrans dx="-24" dy="-1904236" dz="-8829157"/>
                    <am3d:scale>
                      <am3d:sx n="1000000" d="1000000"/>
                      <am3d:sy n="1000000" d="1000000"/>
                      <am3d:sz n="1000000" d="1000000"/>
                    </am3d:scale>
                    <am3d:rot ax="8012490" ay="2165362" az="8892482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7771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Modelo 3D 9" descr="Alicates">
                <a:extLst>
                  <a:ext uri="{FF2B5EF4-FFF2-40B4-BE49-F238E27FC236}">
                    <a16:creationId xmlns:a16="http://schemas.microsoft.com/office/drawing/2014/main" id="{CC8BF8C2-3B1C-2B8F-04A0-616C78BA61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09937" y="544938"/>
                <a:ext cx="682873" cy="5121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757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7A83FA7-8AFE-E178-1D5D-580664147C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3E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83B5D6C-AC96-0DD1-AD83-943E571D3428}"/>
              </a:ext>
            </a:extLst>
          </p:cNvPr>
          <p:cNvSpPr/>
          <p:nvPr/>
        </p:nvSpPr>
        <p:spPr>
          <a:xfrm>
            <a:off x="135467" y="0"/>
            <a:ext cx="12056533" cy="6688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Universidade São Judas Tadeu (USJT) - Lideranças Políticas NEAMP">
            <a:extLst>
              <a:ext uri="{FF2B5EF4-FFF2-40B4-BE49-F238E27FC236}">
                <a16:creationId xmlns:a16="http://schemas.microsoft.com/office/drawing/2014/main" id="{C7A64F05-C5CD-7144-A53A-F8169DD8E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933" y="6203358"/>
            <a:ext cx="863600" cy="379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6C2883A-1DAD-7B4A-1CFB-4DD4146C247C}"/>
              </a:ext>
            </a:extLst>
          </p:cNvPr>
          <p:cNvSpPr/>
          <p:nvPr/>
        </p:nvSpPr>
        <p:spPr>
          <a:xfrm>
            <a:off x="413886" y="382294"/>
            <a:ext cx="45719" cy="587141"/>
          </a:xfrm>
          <a:prstGeom prst="rect">
            <a:avLst/>
          </a:prstGeom>
          <a:solidFill>
            <a:srgbClr val="A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B8E4E4-0BAA-40FC-2A7A-D24E88353F87}"/>
              </a:ext>
            </a:extLst>
          </p:cNvPr>
          <p:cNvSpPr txBox="1"/>
          <p:nvPr/>
        </p:nvSpPr>
        <p:spPr>
          <a:xfrm>
            <a:off x="459605" y="409922"/>
            <a:ext cx="398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</a:rPr>
              <a:t>INTRODUÇÃO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A1589E3E-72C6-623F-9388-62B60D81B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52" y="1559609"/>
            <a:ext cx="5566305" cy="132904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52334284-CDD1-7ADE-69BC-109122D99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952" y="3547483"/>
            <a:ext cx="5856832" cy="84897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37" name="Agrupar 36">
            <a:extLst>
              <a:ext uri="{FF2B5EF4-FFF2-40B4-BE49-F238E27FC236}">
                <a16:creationId xmlns:a16="http://schemas.microsoft.com/office/drawing/2014/main" id="{B70920E0-AD9B-652A-0949-566BBFFBAB24}"/>
              </a:ext>
            </a:extLst>
          </p:cNvPr>
          <p:cNvGrpSpPr/>
          <p:nvPr/>
        </p:nvGrpSpPr>
        <p:grpSpPr>
          <a:xfrm>
            <a:off x="413887" y="1512504"/>
            <a:ext cx="5307662" cy="456668"/>
            <a:chOff x="428505" y="1340327"/>
            <a:chExt cx="5307662" cy="456668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2C6D7B40-F5BB-2912-8352-9F77B9AFC873}"/>
                </a:ext>
              </a:extLst>
            </p:cNvPr>
            <p:cNvSpPr txBox="1"/>
            <p:nvPr/>
          </p:nvSpPr>
          <p:spPr>
            <a:xfrm>
              <a:off x="969433" y="1368606"/>
              <a:ext cx="47667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" dirty="0">
                  <a:solidFill>
                    <a:schemeClr val="bg2">
                      <a:lumMod val="25000"/>
                    </a:schemeClr>
                  </a:solidFill>
                  <a:latin typeface="Lucida Fax" panose="02060602050505020204" pitchFamily="18" charset="0"/>
                </a:rPr>
                <a:t>Transporte foi digitalizado</a:t>
              </a:r>
            </a:p>
          </p:txBody>
        </p:sp>
        <p:pic>
          <p:nvPicPr>
            <p:cNvPr id="25" name="Gráfico 24" descr="Carro com preenchimento sólido">
              <a:extLst>
                <a:ext uri="{FF2B5EF4-FFF2-40B4-BE49-F238E27FC236}">
                  <a16:creationId xmlns:a16="http://schemas.microsoft.com/office/drawing/2014/main" id="{6B8C3BF9-CA03-835E-2522-FFEB991AD3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8505" y="1340327"/>
              <a:ext cx="456668" cy="456668"/>
            </a:xfrm>
            <a:prstGeom prst="rect">
              <a:avLst/>
            </a:prstGeom>
          </p:spPr>
        </p:pic>
      </p:grpSp>
      <p:sp>
        <p:nvSpPr>
          <p:cNvPr id="51" name="Seta: para a Direita Listrada 50">
            <a:extLst>
              <a:ext uri="{FF2B5EF4-FFF2-40B4-BE49-F238E27FC236}">
                <a16:creationId xmlns:a16="http://schemas.microsoft.com/office/drawing/2014/main" id="{A930E4D3-3058-38AD-0357-FC34B2AB27E0}"/>
              </a:ext>
            </a:extLst>
          </p:cNvPr>
          <p:cNvSpPr/>
          <p:nvPr/>
        </p:nvSpPr>
        <p:spPr>
          <a:xfrm>
            <a:off x="840485" y="5555399"/>
            <a:ext cx="4127568" cy="385967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8BDA3893-6272-E089-7BA2-051414A39959}"/>
              </a:ext>
            </a:extLst>
          </p:cNvPr>
          <p:cNvGrpSpPr/>
          <p:nvPr/>
        </p:nvGrpSpPr>
        <p:grpSpPr>
          <a:xfrm>
            <a:off x="450544" y="2096038"/>
            <a:ext cx="5271005" cy="400110"/>
            <a:chOff x="465162" y="1868685"/>
            <a:chExt cx="5271005" cy="400110"/>
          </a:xfrm>
        </p:grpSpPr>
        <p:pic>
          <p:nvPicPr>
            <p:cNvPr id="27" name="Gráfico 26" descr="Hambúrguer e bebida com preenchimento sólido">
              <a:extLst>
                <a:ext uri="{FF2B5EF4-FFF2-40B4-BE49-F238E27FC236}">
                  <a16:creationId xmlns:a16="http://schemas.microsoft.com/office/drawing/2014/main" id="{5F6D4838-E49B-6B44-768B-B5AC17598D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5162" y="1877063"/>
              <a:ext cx="383355" cy="383355"/>
            </a:xfrm>
            <a:prstGeom prst="rect">
              <a:avLst/>
            </a:prstGeom>
          </p:spPr>
        </p:pic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BF60F3A5-CB55-1022-FB4B-E4AFF0F77309}"/>
                </a:ext>
              </a:extLst>
            </p:cNvPr>
            <p:cNvSpPr txBox="1"/>
            <p:nvPr/>
          </p:nvSpPr>
          <p:spPr>
            <a:xfrm>
              <a:off x="969433" y="1868685"/>
              <a:ext cx="47667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>
                <a:defRPr sz="2000">
                  <a:solidFill>
                    <a:schemeClr val="bg2">
                      <a:lumMod val="25000"/>
                    </a:schemeClr>
                  </a:solidFill>
                  <a:latin typeface="Lucida Fax" panose="02060602050505020204" pitchFamily="18" charset="0"/>
                </a:defRPr>
              </a:lvl1pPr>
            </a:lstStyle>
            <a:p>
              <a:r>
                <a:rPr lang="pt-BR" dirty="0"/>
                <a:t>Comida foi digitalizada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5B64C0DB-6A04-DF85-E0C1-5B4955FEF00C}"/>
              </a:ext>
            </a:extLst>
          </p:cNvPr>
          <p:cNvGrpSpPr/>
          <p:nvPr/>
        </p:nvGrpSpPr>
        <p:grpSpPr>
          <a:xfrm>
            <a:off x="413886" y="2623014"/>
            <a:ext cx="5682113" cy="1015663"/>
            <a:chOff x="428505" y="2450837"/>
            <a:chExt cx="5193362" cy="1015663"/>
          </a:xfrm>
        </p:grpSpPr>
        <p:pic>
          <p:nvPicPr>
            <p:cNvPr id="30" name="Gráfico 29" descr="Casa com preenchimento sólido">
              <a:extLst>
                <a:ext uri="{FF2B5EF4-FFF2-40B4-BE49-F238E27FC236}">
                  <a16:creationId xmlns:a16="http://schemas.microsoft.com/office/drawing/2014/main" id="{10CA41D8-3A20-B921-AD0A-19A32CA01D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8505" y="2576446"/>
              <a:ext cx="456668" cy="456668"/>
            </a:xfrm>
            <a:prstGeom prst="rect">
              <a:avLst/>
            </a:prstGeom>
          </p:spPr>
        </p:pic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D632608-9C1C-0E4C-CFF2-2FCCAEBCA4F6}"/>
                </a:ext>
              </a:extLst>
            </p:cNvPr>
            <p:cNvSpPr txBox="1"/>
            <p:nvPr/>
          </p:nvSpPr>
          <p:spPr>
            <a:xfrm>
              <a:off x="969433" y="2450837"/>
              <a:ext cx="465243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" dirty="0">
                  <a:solidFill>
                    <a:schemeClr val="bg2">
                      <a:lumMod val="25000"/>
                    </a:schemeClr>
                  </a:solidFill>
                  <a:latin typeface="Lucida Fax" panose="02060602050505020204" pitchFamily="18" charset="0"/>
                </a:rPr>
                <a:t>Mas a utilização de serviços domésticos ainda depende de indicações informais</a:t>
              </a:r>
            </a:p>
          </p:txBody>
        </p:sp>
      </p:grpSp>
      <p:pic>
        <p:nvPicPr>
          <p:cNvPr id="39" name="Gráfico 38" descr="Usuário com preenchimento sólido">
            <a:extLst>
              <a:ext uri="{FF2B5EF4-FFF2-40B4-BE49-F238E27FC236}">
                <a16:creationId xmlns:a16="http://schemas.microsoft.com/office/drawing/2014/main" id="{3BC2FEEA-49EF-79A3-CDA0-874D8970B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2163" y="5437598"/>
            <a:ext cx="531827" cy="531827"/>
          </a:xfrm>
          <a:prstGeom prst="rect">
            <a:avLst/>
          </a:prstGeom>
        </p:spPr>
      </p:pic>
      <p:pic>
        <p:nvPicPr>
          <p:cNvPr id="41" name="Gráfico 40" descr="Perguntas com preenchimento sólido">
            <a:extLst>
              <a:ext uri="{FF2B5EF4-FFF2-40B4-BE49-F238E27FC236}">
                <a16:creationId xmlns:a16="http://schemas.microsoft.com/office/drawing/2014/main" id="{DD36B18F-460D-A71E-3C87-14EFF77683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49066" y="5382779"/>
            <a:ext cx="641465" cy="641465"/>
          </a:xfrm>
          <a:prstGeom prst="rect">
            <a:avLst/>
          </a:prstGeom>
        </p:spPr>
      </p:pic>
      <p:pic>
        <p:nvPicPr>
          <p:cNvPr id="46" name="Gráfico 45" descr="Ferramentas com preenchimento sólido">
            <a:extLst>
              <a:ext uri="{FF2B5EF4-FFF2-40B4-BE49-F238E27FC236}">
                <a16:creationId xmlns:a16="http://schemas.microsoft.com/office/drawing/2014/main" id="{93B14D71-6659-646A-0619-39EA18A1D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4732" y="5441045"/>
            <a:ext cx="524933" cy="524933"/>
          </a:xfrm>
          <a:prstGeom prst="rect">
            <a:avLst/>
          </a:prstGeom>
        </p:spPr>
      </p:pic>
      <p:pic>
        <p:nvPicPr>
          <p:cNvPr id="48" name="Gráfico 47" descr="Moedas com preenchimento sólido">
            <a:extLst>
              <a:ext uri="{FF2B5EF4-FFF2-40B4-BE49-F238E27FC236}">
                <a16:creationId xmlns:a16="http://schemas.microsoft.com/office/drawing/2014/main" id="{60AA7B3A-7563-4F0F-E3FC-26EAB02857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85615" y="5474911"/>
            <a:ext cx="457200" cy="457200"/>
          </a:xfrm>
          <a:prstGeom prst="rect">
            <a:avLst/>
          </a:prstGeom>
        </p:spPr>
      </p:pic>
      <p:sp>
        <p:nvSpPr>
          <p:cNvPr id="52" name="CaixaDeTexto 51">
            <a:extLst>
              <a:ext uri="{FF2B5EF4-FFF2-40B4-BE49-F238E27FC236}">
                <a16:creationId xmlns:a16="http://schemas.microsoft.com/office/drawing/2014/main" id="{BEBFDED0-0B12-22FB-F067-EEB1CD7B6884}"/>
              </a:ext>
            </a:extLst>
          </p:cNvPr>
          <p:cNvSpPr txBox="1"/>
          <p:nvPr/>
        </p:nvSpPr>
        <p:spPr>
          <a:xfrm>
            <a:off x="3587903" y="6013771"/>
            <a:ext cx="23284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Serviços domésticos</a:t>
            </a:r>
          </a:p>
        </p:txBody>
      </p:sp>
      <p:sp>
        <p:nvSpPr>
          <p:cNvPr id="53" name="Seta: para a Direita Listrada 52">
            <a:extLst>
              <a:ext uri="{FF2B5EF4-FFF2-40B4-BE49-F238E27FC236}">
                <a16:creationId xmlns:a16="http://schemas.microsoft.com/office/drawing/2014/main" id="{5A88B11C-04C8-1B71-6F7B-BB44C35D1DCE}"/>
              </a:ext>
            </a:extLst>
          </p:cNvPr>
          <p:cNvSpPr/>
          <p:nvPr/>
        </p:nvSpPr>
        <p:spPr>
          <a:xfrm>
            <a:off x="828189" y="4014621"/>
            <a:ext cx="4127568" cy="385967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4" name="Gráfico 53" descr="Usuário com preenchimento sólido">
            <a:extLst>
              <a:ext uri="{FF2B5EF4-FFF2-40B4-BE49-F238E27FC236}">
                <a16:creationId xmlns:a16="http://schemas.microsoft.com/office/drawing/2014/main" id="{EA27269A-A6B0-DFC5-CA77-59A01A27F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867" y="3896820"/>
            <a:ext cx="531827" cy="531827"/>
          </a:xfrm>
          <a:prstGeom prst="rect">
            <a:avLst/>
          </a:prstGeom>
        </p:spPr>
      </p:pic>
      <p:pic>
        <p:nvPicPr>
          <p:cNvPr id="57" name="Gráfico 56" descr="Moedas com preenchimento sólido">
            <a:extLst>
              <a:ext uri="{FF2B5EF4-FFF2-40B4-BE49-F238E27FC236}">
                <a16:creationId xmlns:a16="http://schemas.microsoft.com/office/drawing/2014/main" id="{C63DF72C-6377-2642-0A5D-FA2F7D668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58598" y="3943388"/>
            <a:ext cx="457200" cy="457200"/>
          </a:xfrm>
          <a:prstGeom prst="rect">
            <a:avLst/>
          </a:prstGeom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5BC78674-957D-6643-F4CE-106913DE45CE}"/>
              </a:ext>
            </a:extLst>
          </p:cNvPr>
          <p:cNvSpPr txBox="1"/>
          <p:nvPr/>
        </p:nvSpPr>
        <p:spPr>
          <a:xfrm>
            <a:off x="3575607" y="4472993"/>
            <a:ext cx="23284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Demais serviços</a:t>
            </a:r>
          </a:p>
        </p:txBody>
      </p:sp>
      <p:pic>
        <p:nvPicPr>
          <p:cNvPr id="60" name="Gráfico 59" descr="Smartphone com preenchimento sólido">
            <a:extLst>
              <a:ext uri="{FF2B5EF4-FFF2-40B4-BE49-F238E27FC236}">
                <a16:creationId xmlns:a16="http://schemas.microsoft.com/office/drawing/2014/main" id="{6A8A3045-9D45-DD68-5AC0-A8EEFC7A76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03885" y="3896820"/>
            <a:ext cx="531827" cy="531827"/>
          </a:xfrm>
          <a:prstGeom prst="rect">
            <a:avLst/>
          </a:prstGeom>
        </p:spPr>
      </p:pic>
      <p:pic>
        <p:nvPicPr>
          <p:cNvPr id="62" name="Gráfico 61" descr="Contorno de rosto com óculos com preenchimento sólido">
            <a:extLst>
              <a:ext uri="{FF2B5EF4-FFF2-40B4-BE49-F238E27FC236}">
                <a16:creationId xmlns:a16="http://schemas.microsoft.com/office/drawing/2014/main" id="{95FB36E4-41C4-0726-EC06-0A352C7A90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38337" y="3900266"/>
            <a:ext cx="524933" cy="524933"/>
          </a:xfrm>
          <a:prstGeom prst="rect">
            <a:avLst/>
          </a:prstGeom>
        </p:spPr>
      </p:pic>
      <p:pic>
        <p:nvPicPr>
          <p:cNvPr id="2048" name="Imagem 2047">
            <a:extLst>
              <a:ext uri="{FF2B5EF4-FFF2-40B4-BE49-F238E27FC236}">
                <a16:creationId xmlns:a16="http://schemas.microsoft.com/office/drawing/2014/main" id="{19E1D2E1-FD84-6ED8-8FCD-5218CF3A32E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20952" y="5055282"/>
            <a:ext cx="6096000" cy="6903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49" name="Modelo 3D 2048" descr="Lâmpada de Led Fluorescente">
                <a:extLst>
                  <a:ext uri="{FF2B5EF4-FFF2-40B4-BE49-F238E27FC236}">
                    <a16:creationId xmlns:a16="http://schemas.microsoft.com/office/drawing/2014/main" id="{02256A36-ED9C-615C-A3F4-AF3F7AA73E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5902159"/>
                  </p:ext>
                </p:extLst>
              </p:nvPr>
            </p:nvGraphicFramePr>
            <p:xfrm>
              <a:off x="3134801" y="310726"/>
              <a:ext cx="267220" cy="470816"/>
            </p:xfrm>
            <a:graphic>
              <a:graphicData uri="http://schemas.microsoft.com/office/drawing/2017/model3d">
                <am3d:model3d r:embed="rId15">
                  <am3d:spPr>
                    <a:xfrm>
                      <a:off x="0" y="0"/>
                      <a:ext cx="267220" cy="470816"/>
                    </a:xfrm>
                    <a:prstGeom prst="rect">
                      <a:avLst/>
                    </a:prstGeom>
                  </am3d:spPr>
                  <am3d:camera>
                    <am3d:pos x="0" y="0" z="603549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99330" d="1000000"/>
                    <am3d:preTrans dx="163" dy="123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6"/>
                  </am3d:raster>
                  <am3d:objViewport viewportSz="6235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49" name="Modelo 3D 2048" descr="Lâmpada de Led Fluorescente">
                <a:extLst>
                  <a:ext uri="{FF2B5EF4-FFF2-40B4-BE49-F238E27FC236}">
                    <a16:creationId xmlns:a16="http://schemas.microsoft.com/office/drawing/2014/main" id="{02256A36-ED9C-615C-A3F4-AF3F7AA73E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34801" y="310726"/>
                <a:ext cx="267220" cy="4708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51" name="Modelo 3D 2050" descr="Alicates">
                <a:extLst>
                  <a:ext uri="{FF2B5EF4-FFF2-40B4-BE49-F238E27FC236}">
                    <a16:creationId xmlns:a16="http://schemas.microsoft.com/office/drawing/2014/main" id="{F7B71BC7-82E9-B2A1-C47F-D4E7584F7F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31417255"/>
                  </p:ext>
                </p:extLst>
              </p:nvPr>
            </p:nvGraphicFramePr>
            <p:xfrm>
              <a:off x="3196051" y="525465"/>
              <a:ext cx="682873" cy="512154"/>
            </p:xfrm>
            <a:graphic>
              <a:graphicData uri="http://schemas.microsoft.com/office/drawing/2017/model3d">
                <am3d:model3d r:embed="rId17">
                  <am3d:spPr>
                    <a:xfrm>
                      <a:off x="0" y="0"/>
                      <a:ext cx="682873" cy="512154"/>
                    </a:xfrm>
                    <a:prstGeom prst="rect">
                      <a:avLst/>
                    </a:prstGeom>
                  </am3d:spPr>
                  <am3d:camera>
                    <am3d:pos x="0" y="0" z="56531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94235" d="1000000"/>
                    <am3d:preTrans dx="-24" dy="-1904236" dz="-8829157"/>
                    <am3d:scale>
                      <am3d:sx n="1000000" d="1000000"/>
                      <am3d:sy n="1000000" d="1000000"/>
                      <am3d:sz n="1000000" d="1000000"/>
                    </am3d:scale>
                    <am3d:rot ax="8012490" ay="2165362" az="8892482"/>
                    <am3d:postTrans dx="0" dy="0" dz="0"/>
                  </am3d:trans>
                  <am3d:raster rName="Office3DRenderer" rVer="16.0.8326">
                    <am3d:blip r:embed="rId18"/>
                  </am3d:raster>
                  <am3d:objViewport viewportSz="77771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51" name="Modelo 3D 2050" descr="Alicates">
                <a:extLst>
                  <a:ext uri="{FF2B5EF4-FFF2-40B4-BE49-F238E27FC236}">
                    <a16:creationId xmlns:a16="http://schemas.microsoft.com/office/drawing/2014/main" id="{F7B71BC7-82E9-B2A1-C47F-D4E7584F7F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96051" y="525465"/>
                <a:ext cx="682873" cy="5121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341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7A83FA7-8AFE-E178-1D5D-580664147C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3E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83B5D6C-AC96-0DD1-AD83-943E571D3428}"/>
              </a:ext>
            </a:extLst>
          </p:cNvPr>
          <p:cNvSpPr/>
          <p:nvPr/>
        </p:nvSpPr>
        <p:spPr>
          <a:xfrm>
            <a:off x="135467" y="0"/>
            <a:ext cx="12056533" cy="6688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Universidade São Judas Tadeu (USJT) - Lideranças Políticas NEAMP">
            <a:extLst>
              <a:ext uri="{FF2B5EF4-FFF2-40B4-BE49-F238E27FC236}">
                <a16:creationId xmlns:a16="http://schemas.microsoft.com/office/drawing/2014/main" id="{C7A64F05-C5CD-7144-A53A-F8169DD8E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933" y="6203358"/>
            <a:ext cx="863600" cy="379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6C2883A-1DAD-7B4A-1CFB-4DD4146C247C}"/>
              </a:ext>
            </a:extLst>
          </p:cNvPr>
          <p:cNvSpPr/>
          <p:nvPr/>
        </p:nvSpPr>
        <p:spPr>
          <a:xfrm>
            <a:off x="413886" y="382294"/>
            <a:ext cx="45719" cy="587141"/>
          </a:xfrm>
          <a:prstGeom prst="rect">
            <a:avLst/>
          </a:prstGeom>
          <a:solidFill>
            <a:srgbClr val="A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B8E4E4-0BAA-40FC-2A7A-D24E88353F87}"/>
              </a:ext>
            </a:extLst>
          </p:cNvPr>
          <p:cNvSpPr txBox="1"/>
          <p:nvPr/>
        </p:nvSpPr>
        <p:spPr>
          <a:xfrm>
            <a:off x="459605" y="414870"/>
            <a:ext cx="398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</a:rPr>
              <a:t>OPORTUNIDADE</a:t>
            </a:r>
          </a:p>
        </p:txBody>
      </p:sp>
      <p:pic>
        <p:nvPicPr>
          <p:cNvPr id="7" name="Gráfico 6" descr="Casa com preenchimento sólido">
            <a:extLst>
              <a:ext uri="{FF2B5EF4-FFF2-40B4-BE49-F238E27FC236}">
                <a16:creationId xmlns:a16="http://schemas.microsoft.com/office/drawing/2014/main" id="{5A51A9BC-4AB4-F6F2-9B27-88357352F6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1216" y="1514449"/>
            <a:ext cx="541867" cy="541867"/>
          </a:xfrm>
          <a:prstGeom prst="rect">
            <a:avLst/>
          </a:prstGeom>
        </p:spPr>
      </p:pic>
      <p:pic>
        <p:nvPicPr>
          <p:cNvPr id="9" name="Gráfico 8" descr="Usuário com preenchimento sólido">
            <a:extLst>
              <a:ext uri="{FF2B5EF4-FFF2-40B4-BE49-F238E27FC236}">
                <a16:creationId xmlns:a16="http://schemas.microsoft.com/office/drawing/2014/main" id="{39AA540F-94F9-6837-B393-4F1A26A55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1951" y="2873350"/>
            <a:ext cx="457200" cy="457200"/>
          </a:xfrm>
          <a:prstGeom prst="rect">
            <a:avLst/>
          </a:prstGeom>
        </p:spPr>
      </p:pic>
      <p:pic>
        <p:nvPicPr>
          <p:cNvPr id="11" name="Gráfico 10" descr="Ferramentas com preenchimento sólido">
            <a:extLst>
              <a:ext uri="{FF2B5EF4-FFF2-40B4-BE49-F238E27FC236}">
                <a16:creationId xmlns:a16="http://schemas.microsoft.com/office/drawing/2014/main" id="{58A0410C-0125-5BB1-A573-ED0D54D6CA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96750" y="2915684"/>
            <a:ext cx="372533" cy="372533"/>
          </a:xfrm>
          <a:prstGeom prst="rect">
            <a:avLst/>
          </a:prstGeom>
        </p:spPr>
      </p:pic>
      <p:pic>
        <p:nvPicPr>
          <p:cNvPr id="13" name="Gráfico 12" descr="Smartphone com preenchimento sólido">
            <a:extLst>
              <a:ext uri="{FF2B5EF4-FFF2-40B4-BE49-F238E27FC236}">
                <a16:creationId xmlns:a16="http://schemas.microsoft.com/office/drawing/2014/main" id="{83C3681C-E7D0-6827-3A62-C9538158C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3550" y="4079853"/>
            <a:ext cx="457200" cy="4572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D9568A20-60AB-F01C-7C7A-49214136FC43}"/>
              </a:ext>
            </a:extLst>
          </p:cNvPr>
          <p:cNvSpPr txBox="1"/>
          <p:nvPr/>
        </p:nvSpPr>
        <p:spPr>
          <a:xfrm>
            <a:off x="8530234" y="2940368"/>
            <a:ext cx="23284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CONECTA FÁCIL</a:t>
            </a:r>
          </a:p>
        </p:txBody>
      </p:sp>
      <p:cxnSp>
        <p:nvCxnSpPr>
          <p:cNvPr id="42" name="Conector: Curvo 41">
            <a:extLst>
              <a:ext uri="{FF2B5EF4-FFF2-40B4-BE49-F238E27FC236}">
                <a16:creationId xmlns:a16="http://schemas.microsoft.com/office/drawing/2014/main" id="{46FC7AB2-593D-C76C-A1BD-552B8BC19B75}"/>
              </a:ext>
            </a:extLst>
          </p:cNvPr>
          <p:cNvCxnSpPr>
            <a:cxnSpLocks/>
            <a:endCxn id="9" idx="0"/>
          </p:cNvCxnSpPr>
          <p:nvPr/>
        </p:nvCxnSpPr>
        <p:spPr>
          <a:xfrm rot="10800000" flipV="1">
            <a:off x="8280551" y="1878516"/>
            <a:ext cx="1100666" cy="994834"/>
          </a:xfrm>
          <a:prstGeom prst="curved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: Curvo 43">
            <a:extLst>
              <a:ext uri="{FF2B5EF4-FFF2-40B4-BE49-F238E27FC236}">
                <a16:creationId xmlns:a16="http://schemas.microsoft.com/office/drawing/2014/main" id="{EDE81E97-604F-F343-D03A-FFAC10B786ED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8405613" y="3205488"/>
            <a:ext cx="977542" cy="1227666"/>
          </a:xfrm>
          <a:prstGeom prst="curved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Curvo 55">
            <a:extLst>
              <a:ext uri="{FF2B5EF4-FFF2-40B4-BE49-F238E27FC236}">
                <a16:creationId xmlns:a16="http://schemas.microsoft.com/office/drawing/2014/main" id="{C77A9823-B001-0200-E490-07FB6B848EE9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9923083" y="1878516"/>
            <a:ext cx="1159934" cy="1037168"/>
          </a:xfrm>
          <a:prstGeom prst="curved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2" name="Conector: Curvo 2071">
            <a:extLst>
              <a:ext uri="{FF2B5EF4-FFF2-40B4-BE49-F238E27FC236}">
                <a16:creationId xmlns:a16="http://schemas.microsoft.com/office/drawing/2014/main" id="{BE433E31-DDCB-5899-70F0-419EB1A4B16F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9922208" y="3147282"/>
            <a:ext cx="1019875" cy="1301744"/>
          </a:xfrm>
          <a:prstGeom prst="curved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1" name="CaixaDeTexto 2080">
            <a:extLst>
              <a:ext uri="{FF2B5EF4-FFF2-40B4-BE49-F238E27FC236}">
                <a16:creationId xmlns:a16="http://schemas.microsoft.com/office/drawing/2014/main" id="{DD47C38A-E509-533E-B841-9EDAC774D63F}"/>
              </a:ext>
            </a:extLst>
          </p:cNvPr>
          <p:cNvSpPr txBox="1"/>
          <p:nvPr/>
        </p:nvSpPr>
        <p:spPr>
          <a:xfrm>
            <a:off x="1096197" y="2389276"/>
            <a:ext cx="4766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Casas precisam de manutenção</a:t>
            </a:r>
          </a:p>
        </p:txBody>
      </p:sp>
      <p:sp>
        <p:nvSpPr>
          <p:cNvPr id="2085" name="CaixaDeTexto 2084">
            <a:extLst>
              <a:ext uri="{FF2B5EF4-FFF2-40B4-BE49-F238E27FC236}">
                <a16:creationId xmlns:a16="http://schemas.microsoft.com/office/drawing/2014/main" id="{29EEA002-EAD2-54E3-20C7-0F3F5EBDC4E6}"/>
              </a:ext>
            </a:extLst>
          </p:cNvPr>
          <p:cNvSpPr txBox="1"/>
          <p:nvPr/>
        </p:nvSpPr>
        <p:spPr>
          <a:xfrm>
            <a:off x="1096197" y="2989031"/>
            <a:ext cx="5934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defRPr>
            </a:lvl1pPr>
          </a:lstStyle>
          <a:p>
            <a:r>
              <a:rPr lang="pt-BR" dirty="0"/>
              <a:t>“Faz Tudo” precisam de mais oportunidades</a:t>
            </a:r>
          </a:p>
        </p:txBody>
      </p:sp>
      <p:pic>
        <p:nvPicPr>
          <p:cNvPr id="2087" name="Gráfico 2086" descr="Casa com preenchimento sólido">
            <a:extLst>
              <a:ext uri="{FF2B5EF4-FFF2-40B4-BE49-F238E27FC236}">
                <a16:creationId xmlns:a16="http://schemas.microsoft.com/office/drawing/2014/main" id="{16809ED6-8948-FC0D-87D0-C04A3DCB9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332" y="2399399"/>
            <a:ext cx="499645" cy="456668"/>
          </a:xfrm>
          <a:prstGeom prst="rect">
            <a:avLst/>
          </a:prstGeom>
        </p:spPr>
      </p:pic>
      <p:sp>
        <p:nvSpPr>
          <p:cNvPr id="2088" name="CaixaDeTexto 2087">
            <a:extLst>
              <a:ext uri="{FF2B5EF4-FFF2-40B4-BE49-F238E27FC236}">
                <a16:creationId xmlns:a16="http://schemas.microsoft.com/office/drawing/2014/main" id="{3456E295-57E3-C050-4676-042FD3FC45B3}"/>
              </a:ext>
            </a:extLst>
          </p:cNvPr>
          <p:cNvSpPr txBox="1"/>
          <p:nvPr/>
        </p:nvSpPr>
        <p:spPr>
          <a:xfrm>
            <a:off x="1096197" y="3588785"/>
            <a:ext cx="5090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Pessoas precisam de serviços</a:t>
            </a:r>
          </a:p>
        </p:txBody>
      </p:sp>
      <p:pic>
        <p:nvPicPr>
          <p:cNvPr id="2090" name="Gráfico 2089" descr="Cabeça com engrenagens com preenchimento sólido">
            <a:extLst>
              <a:ext uri="{FF2B5EF4-FFF2-40B4-BE49-F238E27FC236}">
                <a16:creationId xmlns:a16="http://schemas.microsoft.com/office/drawing/2014/main" id="{CE626C27-5BD8-5AB5-EB78-82CD2DCC2A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554" y="2993826"/>
            <a:ext cx="457200" cy="457200"/>
          </a:xfrm>
          <a:prstGeom prst="rect">
            <a:avLst/>
          </a:prstGeom>
        </p:spPr>
      </p:pic>
      <p:pic>
        <p:nvPicPr>
          <p:cNvPr id="2092" name="Gráfico 2091" descr="Usuário com preenchimento sólido">
            <a:extLst>
              <a:ext uri="{FF2B5EF4-FFF2-40B4-BE49-F238E27FC236}">
                <a16:creationId xmlns:a16="http://schemas.microsoft.com/office/drawing/2014/main" id="{F847ABBE-9B7B-B210-2E22-F1B1D31290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620" y="3588785"/>
            <a:ext cx="491068" cy="491068"/>
          </a:xfrm>
          <a:prstGeom prst="rect">
            <a:avLst/>
          </a:prstGeom>
        </p:spPr>
      </p:pic>
      <p:sp>
        <p:nvSpPr>
          <p:cNvPr id="2093" name="CaixaDeTexto 2092">
            <a:extLst>
              <a:ext uri="{FF2B5EF4-FFF2-40B4-BE49-F238E27FC236}">
                <a16:creationId xmlns:a16="http://schemas.microsoft.com/office/drawing/2014/main" id="{A9AC4678-A4E4-CF15-8418-528F7D707F5F}"/>
              </a:ext>
            </a:extLst>
          </p:cNvPr>
          <p:cNvSpPr txBox="1"/>
          <p:nvPr/>
        </p:nvSpPr>
        <p:spPr>
          <a:xfrm>
            <a:off x="7461109" y="4691259"/>
            <a:ext cx="438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Uma solução que une as necessidades de trabalhadores, pessoas e tecnologia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95" name="Modelo 3D 2094" descr="Lâmpada de Led Fluorescente">
                <a:extLst>
                  <a:ext uri="{FF2B5EF4-FFF2-40B4-BE49-F238E27FC236}">
                    <a16:creationId xmlns:a16="http://schemas.microsoft.com/office/drawing/2014/main" id="{DBD8F916-982C-4ED3-AE73-47DE2FF57A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6417312"/>
                  </p:ext>
                </p:extLst>
              </p:nvPr>
            </p:nvGraphicFramePr>
            <p:xfrm>
              <a:off x="3692621" y="295906"/>
              <a:ext cx="267220" cy="470816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267220" cy="470816"/>
                    </a:xfrm>
                    <a:prstGeom prst="rect">
                      <a:avLst/>
                    </a:prstGeom>
                  </am3d:spPr>
                  <am3d:camera>
                    <am3d:pos x="0" y="0" z="603549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99330" d="1000000"/>
                    <am3d:preTrans dx="163" dy="123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6235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95" name="Modelo 3D 2094" descr="Lâmpada de Led Fluorescente">
                <a:extLst>
                  <a:ext uri="{FF2B5EF4-FFF2-40B4-BE49-F238E27FC236}">
                    <a16:creationId xmlns:a16="http://schemas.microsoft.com/office/drawing/2014/main" id="{DBD8F916-982C-4ED3-AE73-47DE2FF57A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92621" y="295906"/>
                <a:ext cx="267220" cy="4708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96" name="Modelo 3D 2095" descr="Alicates">
                <a:extLst>
                  <a:ext uri="{FF2B5EF4-FFF2-40B4-BE49-F238E27FC236}">
                    <a16:creationId xmlns:a16="http://schemas.microsoft.com/office/drawing/2014/main" id="{46E0F165-5F86-8D5B-C72B-95D4ED28E30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76574528"/>
                  </p:ext>
                </p:extLst>
              </p:nvPr>
            </p:nvGraphicFramePr>
            <p:xfrm>
              <a:off x="3753871" y="510645"/>
              <a:ext cx="682873" cy="512154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682873" cy="512154"/>
                    </a:xfrm>
                    <a:prstGeom prst="rect">
                      <a:avLst/>
                    </a:prstGeom>
                  </am3d:spPr>
                  <am3d:camera>
                    <am3d:pos x="0" y="0" z="56531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94235" d="1000000"/>
                    <am3d:preTrans dx="-24" dy="-1904236" dz="-8829157"/>
                    <am3d:scale>
                      <am3d:sx n="1000000" d="1000000"/>
                      <am3d:sy n="1000000" d="1000000"/>
                      <am3d:sz n="1000000" d="1000000"/>
                    </am3d:scale>
                    <am3d:rot ax="8012490" ay="2165362" az="8892482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77771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96" name="Modelo 3D 2095" descr="Alicates">
                <a:extLst>
                  <a:ext uri="{FF2B5EF4-FFF2-40B4-BE49-F238E27FC236}">
                    <a16:creationId xmlns:a16="http://schemas.microsoft.com/office/drawing/2014/main" id="{46E0F165-5F86-8D5B-C72B-95D4ED28E3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53871" y="510645"/>
                <a:ext cx="682873" cy="5121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211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7A83FA7-8AFE-E178-1D5D-580664147C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3E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83B5D6C-AC96-0DD1-AD83-943E571D3428}"/>
              </a:ext>
            </a:extLst>
          </p:cNvPr>
          <p:cNvSpPr/>
          <p:nvPr/>
        </p:nvSpPr>
        <p:spPr>
          <a:xfrm>
            <a:off x="135467" y="0"/>
            <a:ext cx="12056533" cy="6688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Universidade São Judas Tadeu (USJT) - Lideranças Políticas NEAMP">
            <a:extLst>
              <a:ext uri="{FF2B5EF4-FFF2-40B4-BE49-F238E27FC236}">
                <a16:creationId xmlns:a16="http://schemas.microsoft.com/office/drawing/2014/main" id="{C7A64F05-C5CD-7144-A53A-F8169DD8E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933" y="6203358"/>
            <a:ext cx="863600" cy="379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6C2883A-1DAD-7B4A-1CFB-4DD4146C247C}"/>
              </a:ext>
            </a:extLst>
          </p:cNvPr>
          <p:cNvSpPr/>
          <p:nvPr/>
        </p:nvSpPr>
        <p:spPr>
          <a:xfrm>
            <a:off x="413886" y="382294"/>
            <a:ext cx="45719" cy="587141"/>
          </a:xfrm>
          <a:prstGeom prst="rect">
            <a:avLst/>
          </a:prstGeom>
          <a:solidFill>
            <a:srgbClr val="A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B8E4E4-0BAA-40FC-2A7A-D24E88353F87}"/>
              </a:ext>
            </a:extLst>
          </p:cNvPr>
          <p:cNvSpPr txBox="1"/>
          <p:nvPr/>
        </p:nvSpPr>
        <p:spPr>
          <a:xfrm>
            <a:off x="436745" y="414254"/>
            <a:ext cx="398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</a:rPr>
              <a:t>CONECTA FÁCIL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554B934-0477-27B0-E219-CF6537066741}"/>
              </a:ext>
            </a:extLst>
          </p:cNvPr>
          <p:cNvSpPr/>
          <p:nvPr/>
        </p:nvSpPr>
        <p:spPr>
          <a:xfrm>
            <a:off x="198985" y="2386314"/>
            <a:ext cx="2592371" cy="389466"/>
          </a:xfrm>
          <a:prstGeom prst="rect">
            <a:avLst/>
          </a:prstGeom>
          <a:solidFill>
            <a:srgbClr val="353E8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Lucida Fax" panose="02060602050505020204" pitchFamily="18" charset="0"/>
              </a:rPr>
              <a:t>ENTREVISTAS</a:t>
            </a:r>
          </a:p>
        </p:txBody>
      </p:sp>
      <p:sp>
        <p:nvSpPr>
          <p:cNvPr id="21" name="Seta: para a Direita Listrada 20">
            <a:extLst>
              <a:ext uri="{FF2B5EF4-FFF2-40B4-BE49-F238E27FC236}">
                <a16:creationId xmlns:a16="http://schemas.microsoft.com/office/drawing/2014/main" id="{E096E9CA-AEDA-ED54-DA86-13CAB35DA0CD}"/>
              </a:ext>
            </a:extLst>
          </p:cNvPr>
          <p:cNvSpPr/>
          <p:nvPr/>
        </p:nvSpPr>
        <p:spPr>
          <a:xfrm>
            <a:off x="565696" y="1492593"/>
            <a:ext cx="10800000" cy="385967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Gráfico 19" descr="Debate de grupo com preenchimento sólido">
            <a:extLst>
              <a:ext uri="{FF2B5EF4-FFF2-40B4-BE49-F238E27FC236}">
                <a16:creationId xmlns:a16="http://schemas.microsoft.com/office/drawing/2014/main" id="{6ADF7F54-2D7C-116D-234A-634994E884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304" y="1271172"/>
            <a:ext cx="668867" cy="668867"/>
          </a:xfrm>
          <a:prstGeom prst="rect">
            <a:avLst/>
          </a:prstGeom>
        </p:spPr>
      </p:pic>
      <p:pic>
        <p:nvPicPr>
          <p:cNvPr id="23" name="Gráfico 22" descr="Pesquisa com preenchimento sólido">
            <a:extLst>
              <a:ext uri="{FF2B5EF4-FFF2-40B4-BE49-F238E27FC236}">
                <a16:creationId xmlns:a16="http://schemas.microsoft.com/office/drawing/2014/main" id="{680CF482-84F8-2614-1A5D-B8DB60F70D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5247" y="1334672"/>
            <a:ext cx="541867" cy="541867"/>
          </a:xfrm>
          <a:prstGeom prst="rect">
            <a:avLst/>
          </a:prstGeom>
        </p:spPr>
      </p:pic>
      <p:pic>
        <p:nvPicPr>
          <p:cNvPr id="25" name="Gráfico 24" descr="Análise do cliente com preenchimento sólido">
            <a:extLst>
              <a:ext uri="{FF2B5EF4-FFF2-40B4-BE49-F238E27FC236}">
                <a16:creationId xmlns:a16="http://schemas.microsoft.com/office/drawing/2014/main" id="{B51D6070-EB4F-E068-BAFF-51E71B8B21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7190" y="1273181"/>
            <a:ext cx="664848" cy="664848"/>
          </a:xfrm>
          <a:prstGeom prst="rect">
            <a:avLst/>
          </a:prstGeom>
        </p:spPr>
      </p:pic>
      <p:pic>
        <p:nvPicPr>
          <p:cNvPr id="27" name="Gráfico 26" descr="Peças de quebra-cabeça com preenchimento sólido">
            <a:extLst>
              <a:ext uri="{FF2B5EF4-FFF2-40B4-BE49-F238E27FC236}">
                <a16:creationId xmlns:a16="http://schemas.microsoft.com/office/drawing/2014/main" id="{A043C289-A0C6-DF39-2FDD-40A882D488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92114" y="1271172"/>
            <a:ext cx="668867" cy="668867"/>
          </a:xfrm>
          <a:prstGeom prst="rect">
            <a:avLst/>
          </a:prstGeom>
        </p:spPr>
      </p:pic>
      <p:pic>
        <p:nvPicPr>
          <p:cNvPr id="29" name="Gráfico 28" descr="Smartphone com preenchimento sólido">
            <a:extLst>
              <a:ext uri="{FF2B5EF4-FFF2-40B4-BE49-F238E27FC236}">
                <a16:creationId xmlns:a16="http://schemas.microsoft.com/office/drawing/2014/main" id="{4701F34C-A3EF-3EEB-4D01-E3A4675DB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91058" y="1430274"/>
            <a:ext cx="507755" cy="507755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CBE35E14-2548-92FE-66E9-1E52209BB4DA}"/>
              </a:ext>
            </a:extLst>
          </p:cNvPr>
          <p:cNvSpPr txBox="1"/>
          <p:nvPr/>
        </p:nvSpPr>
        <p:spPr>
          <a:xfrm>
            <a:off x="826304" y="1969393"/>
            <a:ext cx="668867" cy="325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Ideia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BBABE7D-A186-CF19-F05C-0DFBA80956DA}"/>
              </a:ext>
            </a:extLst>
          </p:cNvPr>
          <p:cNvSpPr txBox="1"/>
          <p:nvPr/>
        </p:nvSpPr>
        <p:spPr>
          <a:xfrm>
            <a:off x="3023575" y="1929945"/>
            <a:ext cx="11692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Pesquisas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7C35A3E-4A95-5867-4736-9C981BFD5596}"/>
              </a:ext>
            </a:extLst>
          </p:cNvPr>
          <p:cNvSpPr txBox="1"/>
          <p:nvPr/>
        </p:nvSpPr>
        <p:spPr>
          <a:xfrm>
            <a:off x="5279959" y="1969393"/>
            <a:ext cx="13610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Entrevistas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94763997-71EF-B03C-CD51-014F0F3AD27C}"/>
              </a:ext>
            </a:extLst>
          </p:cNvPr>
          <p:cNvSpPr txBox="1"/>
          <p:nvPr/>
        </p:nvSpPr>
        <p:spPr>
          <a:xfrm>
            <a:off x="7633960" y="1941775"/>
            <a:ext cx="13610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Discussões</a:t>
            </a:r>
          </a:p>
          <a:p>
            <a:pPr algn="ctr"/>
            <a:r>
              <a:rPr lang="pt-BR" sz="15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Brainstorm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A8DBF8B-D3BD-3D8F-37BB-ED5D001999AB}"/>
              </a:ext>
            </a:extLst>
          </p:cNvPr>
          <p:cNvSpPr txBox="1"/>
          <p:nvPr/>
        </p:nvSpPr>
        <p:spPr>
          <a:xfrm>
            <a:off x="9962517" y="1974725"/>
            <a:ext cx="13610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Protótipo Final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Modelo 3D 34" descr="Lâmpada de Led Fluorescente">
                <a:extLst>
                  <a:ext uri="{FF2B5EF4-FFF2-40B4-BE49-F238E27FC236}">
                    <a16:creationId xmlns:a16="http://schemas.microsoft.com/office/drawing/2014/main" id="{F962FFAB-85A2-BB04-F553-8384C8CEBCB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0081344"/>
                  </p:ext>
                </p:extLst>
              </p:nvPr>
            </p:nvGraphicFramePr>
            <p:xfrm>
              <a:off x="3692621" y="295906"/>
              <a:ext cx="267220" cy="470816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267220" cy="470816"/>
                    </a:xfrm>
                    <a:prstGeom prst="rect">
                      <a:avLst/>
                    </a:prstGeom>
                  </am3d:spPr>
                  <am3d:camera>
                    <am3d:pos x="0" y="0" z="603549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99330" d="1000000"/>
                    <am3d:preTrans dx="163" dy="123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6235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Modelo 3D 34" descr="Lâmpada de Led Fluorescente">
                <a:extLst>
                  <a:ext uri="{FF2B5EF4-FFF2-40B4-BE49-F238E27FC236}">
                    <a16:creationId xmlns:a16="http://schemas.microsoft.com/office/drawing/2014/main" id="{F962FFAB-85A2-BB04-F553-8384C8CEBCB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92621" y="295906"/>
                <a:ext cx="267220" cy="4708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Modelo 3D 35" descr="Alicates">
                <a:extLst>
                  <a:ext uri="{FF2B5EF4-FFF2-40B4-BE49-F238E27FC236}">
                    <a16:creationId xmlns:a16="http://schemas.microsoft.com/office/drawing/2014/main" id="{9963945D-CABD-AD96-110F-7554CEC84B4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20850897"/>
                  </p:ext>
                </p:extLst>
              </p:nvPr>
            </p:nvGraphicFramePr>
            <p:xfrm>
              <a:off x="3753871" y="510645"/>
              <a:ext cx="682873" cy="512154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682873" cy="512154"/>
                    </a:xfrm>
                    <a:prstGeom prst="rect">
                      <a:avLst/>
                    </a:prstGeom>
                  </am3d:spPr>
                  <am3d:camera>
                    <am3d:pos x="0" y="0" z="56531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94235" d="1000000"/>
                    <am3d:preTrans dx="-24" dy="-1904236" dz="-8829157"/>
                    <am3d:scale>
                      <am3d:sx n="1000000" d="1000000"/>
                      <am3d:sy n="1000000" d="1000000"/>
                      <am3d:sz n="1000000" d="1000000"/>
                    </am3d:scale>
                    <am3d:rot ax="8012490" ay="2165362" az="8892482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77771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Modelo 3D 35" descr="Alicates">
                <a:extLst>
                  <a:ext uri="{FF2B5EF4-FFF2-40B4-BE49-F238E27FC236}">
                    <a16:creationId xmlns:a16="http://schemas.microsoft.com/office/drawing/2014/main" id="{9963945D-CABD-AD96-110F-7554CEC84B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53871" y="510645"/>
                <a:ext cx="682873" cy="512154"/>
              </a:xfrm>
              <a:prstGeom prst="rect">
                <a:avLst/>
              </a:prstGeom>
            </p:spPr>
          </p:pic>
        </mc:Fallback>
      </mc:AlternateContent>
      <p:pic>
        <p:nvPicPr>
          <p:cNvPr id="38" name="Gráfico 37" descr="Usuários com preenchimento sólido">
            <a:extLst>
              <a:ext uri="{FF2B5EF4-FFF2-40B4-BE49-F238E27FC236}">
                <a16:creationId xmlns:a16="http://schemas.microsoft.com/office/drawing/2014/main" id="{6CAA3422-EFFC-DD5E-0304-52AE68EEA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2079" y="4090416"/>
            <a:ext cx="914400" cy="91440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D36C8333-7FF4-0FDE-117F-6993FFB1DCD8}"/>
              </a:ext>
            </a:extLst>
          </p:cNvPr>
          <p:cNvSpPr/>
          <p:nvPr/>
        </p:nvSpPr>
        <p:spPr>
          <a:xfrm>
            <a:off x="7310175" y="3117452"/>
            <a:ext cx="3898204" cy="30532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Seta: para a Direita Listrada 38">
            <a:extLst>
              <a:ext uri="{FF2B5EF4-FFF2-40B4-BE49-F238E27FC236}">
                <a16:creationId xmlns:a16="http://schemas.microsoft.com/office/drawing/2014/main" id="{F64E1572-1E73-26EF-1EC3-B2CF9A3A9720}"/>
              </a:ext>
            </a:extLst>
          </p:cNvPr>
          <p:cNvSpPr/>
          <p:nvPr/>
        </p:nvSpPr>
        <p:spPr>
          <a:xfrm>
            <a:off x="1836720" y="4368536"/>
            <a:ext cx="655301" cy="385967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9A6D33E-0D33-78AC-A27E-1F0F2E5D13D4}"/>
              </a:ext>
            </a:extLst>
          </p:cNvPr>
          <p:cNvSpPr txBox="1"/>
          <p:nvPr/>
        </p:nvSpPr>
        <p:spPr>
          <a:xfrm>
            <a:off x="7349365" y="3283988"/>
            <a:ext cx="3819823" cy="2629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Entender necessidades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Origem dos serviços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Primordial em uma aplicação voltada ao serviços de manutenção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Serviços utilizados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Diferencial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DA40C8-8251-AD67-A5A1-8846FBF0A0CF}"/>
              </a:ext>
            </a:extLst>
          </p:cNvPr>
          <p:cNvSpPr txBox="1"/>
          <p:nvPr/>
        </p:nvSpPr>
        <p:spPr>
          <a:xfrm>
            <a:off x="459605" y="3536418"/>
            <a:ext cx="17707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8 </a:t>
            </a:r>
          </a:p>
          <a:p>
            <a:pPr algn="ctr"/>
            <a:r>
              <a:rPr lang="pt-BR" sz="1500" i="1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pessoas reais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DB3BB301-4292-1A28-512E-C5A0AF941438}"/>
              </a:ext>
            </a:extLst>
          </p:cNvPr>
          <p:cNvSpPr/>
          <p:nvPr/>
        </p:nvSpPr>
        <p:spPr>
          <a:xfrm>
            <a:off x="2746578" y="3117452"/>
            <a:ext cx="3606605" cy="30532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4488811-5C91-560A-CBE2-07DF07114827}"/>
              </a:ext>
            </a:extLst>
          </p:cNvPr>
          <p:cNvSpPr txBox="1"/>
          <p:nvPr/>
        </p:nvSpPr>
        <p:spPr>
          <a:xfrm>
            <a:off x="2770644" y="3800797"/>
            <a:ext cx="3582539" cy="1521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3 Homens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5 Mulheres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Faixa etária: entre 25 até 43 anos</a:t>
            </a:r>
          </a:p>
        </p:txBody>
      </p:sp>
      <p:sp>
        <p:nvSpPr>
          <p:cNvPr id="47" name="Seta: para a Direita Listrada 46">
            <a:extLst>
              <a:ext uri="{FF2B5EF4-FFF2-40B4-BE49-F238E27FC236}">
                <a16:creationId xmlns:a16="http://schemas.microsoft.com/office/drawing/2014/main" id="{987F1AFB-736A-7B2A-7DAF-07F1DC4DD647}"/>
              </a:ext>
            </a:extLst>
          </p:cNvPr>
          <p:cNvSpPr/>
          <p:nvPr/>
        </p:nvSpPr>
        <p:spPr>
          <a:xfrm>
            <a:off x="6519407" y="4368535"/>
            <a:ext cx="655301" cy="385967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100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7A83FA7-8AFE-E178-1D5D-580664147C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3E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83B5D6C-AC96-0DD1-AD83-943E571D3428}"/>
              </a:ext>
            </a:extLst>
          </p:cNvPr>
          <p:cNvSpPr/>
          <p:nvPr/>
        </p:nvSpPr>
        <p:spPr>
          <a:xfrm>
            <a:off x="135467" y="0"/>
            <a:ext cx="12056533" cy="6688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Universidade São Judas Tadeu (USJT) - Lideranças Políticas NEAMP">
            <a:extLst>
              <a:ext uri="{FF2B5EF4-FFF2-40B4-BE49-F238E27FC236}">
                <a16:creationId xmlns:a16="http://schemas.microsoft.com/office/drawing/2014/main" id="{C7A64F05-C5CD-7144-A53A-F8169DD8E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933" y="6203358"/>
            <a:ext cx="863600" cy="379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Seta: para a Direita Listrada 24">
            <a:extLst>
              <a:ext uri="{FF2B5EF4-FFF2-40B4-BE49-F238E27FC236}">
                <a16:creationId xmlns:a16="http://schemas.microsoft.com/office/drawing/2014/main" id="{4BDACEAA-50E1-788A-F8B1-6B723C3EE89D}"/>
              </a:ext>
            </a:extLst>
          </p:cNvPr>
          <p:cNvSpPr/>
          <p:nvPr/>
        </p:nvSpPr>
        <p:spPr>
          <a:xfrm>
            <a:off x="135467" y="3561844"/>
            <a:ext cx="12192000" cy="960442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6C2883A-1DAD-7B4A-1CFB-4DD4146C247C}"/>
              </a:ext>
            </a:extLst>
          </p:cNvPr>
          <p:cNvSpPr/>
          <p:nvPr/>
        </p:nvSpPr>
        <p:spPr>
          <a:xfrm>
            <a:off x="413886" y="382294"/>
            <a:ext cx="45719" cy="587141"/>
          </a:xfrm>
          <a:prstGeom prst="rect">
            <a:avLst/>
          </a:prstGeom>
          <a:solidFill>
            <a:srgbClr val="A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B8E4E4-0BAA-40FC-2A7A-D24E88353F87}"/>
              </a:ext>
            </a:extLst>
          </p:cNvPr>
          <p:cNvSpPr txBox="1"/>
          <p:nvPr/>
        </p:nvSpPr>
        <p:spPr>
          <a:xfrm>
            <a:off x="436745" y="414254"/>
            <a:ext cx="398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</a:rPr>
              <a:t>CONECTA FÁCIL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Lâmpada de Led Fluorescente">
                <a:extLst>
                  <a:ext uri="{FF2B5EF4-FFF2-40B4-BE49-F238E27FC236}">
                    <a16:creationId xmlns:a16="http://schemas.microsoft.com/office/drawing/2014/main" id="{CC3003F3-86A9-66FE-4C37-45055F12001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8003760"/>
                  </p:ext>
                </p:extLst>
              </p:nvPr>
            </p:nvGraphicFramePr>
            <p:xfrm>
              <a:off x="3567493" y="242542"/>
              <a:ext cx="267220" cy="47081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67220" cy="470816"/>
                    </a:xfrm>
                    <a:prstGeom prst="rect">
                      <a:avLst/>
                    </a:prstGeom>
                  </am3d:spPr>
                  <am3d:camera>
                    <am3d:pos x="0" y="0" z="603549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99330" d="1000000"/>
                    <am3d:preTrans dx="163" dy="123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6235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Lâmpada de Led Fluorescente">
                <a:extLst>
                  <a:ext uri="{FF2B5EF4-FFF2-40B4-BE49-F238E27FC236}">
                    <a16:creationId xmlns:a16="http://schemas.microsoft.com/office/drawing/2014/main" id="{CC3003F3-86A9-66FE-4C37-45055F1200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7493" y="242542"/>
                <a:ext cx="267220" cy="4708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elo 3D 8" descr="Alicates">
                <a:extLst>
                  <a:ext uri="{FF2B5EF4-FFF2-40B4-BE49-F238E27FC236}">
                    <a16:creationId xmlns:a16="http://schemas.microsoft.com/office/drawing/2014/main" id="{4859AB50-E59E-A88D-3CCF-85367693E1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80778843"/>
                  </p:ext>
                </p:extLst>
              </p:nvPr>
            </p:nvGraphicFramePr>
            <p:xfrm>
              <a:off x="3628743" y="457281"/>
              <a:ext cx="682873" cy="512154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682873" cy="512154"/>
                    </a:xfrm>
                    <a:prstGeom prst="rect">
                      <a:avLst/>
                    </a:prstGeom>
                  </am3d:spPr>
                  <am3d:camera>
                    <am3d:pos x="0" y="0" z="56531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94235" d="1000000"/>
                    <am3d:preTrans dx="-24" dy="-1904236" dz="-8829157"/>
                    <am3d:scale>
                      <am3d:sx n="1000000" d="1000000"/>
                      <am3d:sy n="1000000" d="1000000"/>
                      <am3d:sz n="1000000" d="1000000"/>
                    </am3d:scale>
                    <am3d:rot ax="8012490" ay="2165362" az="8892482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7771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elo 3D 8" descr="Alicates">
                <a:extLst>
                  <a:ext uri="{FF2B5EF4-FFF2-40B4-BE49-F238E27FC236}">
                    <a16:creationId xmlns:a16="http://schemas.microsoft.com/office/drawing/2014/main" id="{4859AB50-E59E-A88D-3CCF-85367693E1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28743" y="457281"/>
                <a:ext cx="682873" cy="512154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Retângulo 10">
            <a:extLst>
              <a:ext uri="{FF2B5EF4-FFF2-40B4-BE49-F238E27FC236}">
                <a16:creationId xmlns:a16="http://schemas.microsoft.com/office/drawing/2014/main" id="{F274F26A-901B-A9B5-B06D-0230B9A4DF03}"/>
              </a:ext>
            </a:extLst>
          </p:cNvPr>
          <p:cNvSpPr/>
          <p:nvPr/>
        </p:nvSpPr>
        <p:spPr>
          <a:xfrm>
            <a:off x="320000" y="1842266"/>
            <a:ext cx="3606605" cy="43946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FDA2255-E319-1304-7E56-9C5839D29329}"/>
              </a:ext>
            </a:extLst>
          </p:cNvPr>
          <p:cNvSpPr/>
          <p:nvPr/>
        </p:nvSpPr>
        <p:spPr>
          <a:xfrm>
            <a:off x="801390" y="1586189"/>
            <a:ext cx="2592371" cy="389466"/>
          </a:xfrm>
          <a:prstGeom prst="rect">
            <a:avLst/>
          </a:prstGeom>
          <a:solidFill>
            <a:srgbClr val="353E8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Lucida Fax" panose="02060602050505020204" pitchFamily="18" charset="0"/>
              </a:rPr>
              <a:t>NECESSIDADES</a:t>
            </a:r>
          </a:p>
        </p:txBody>
      </p:sp>
      <p:pic>
        <p:nvPicPr>
          <p:cNvPr id="19" name="Gráfico 18" descr="Ferramentas com preenchimento sólido">
            <a:extLst>
              <a:ext uri="{FF2B5EF4-FFF2-40B4-BE49-F238E27FC236}">
                <a16:creationId xmlns:a16="http://schemas.microsoft.com/office/drawing/2014/main" id="{BF8D9B2E-69B7-5B1C-9725-3E64F89AE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17034" y="2101645"/>
            <a:ext cx="457200" cy="45720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811DFD27-177E-AA6E-4346-ACF484E5211C}"/>
              </a:ext>
            </a:extLst>
          </p:cNvPr>
          <p:cNvSpPr txBox="1"/>
          <p:nvPr/>
        </p:nvSpPr>
        <p:spPr>
          <a:xfrm>
            <a:off x="596766" y="2491669"/>
            <a:ext cx="3128210" cy="373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Pintura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Manutenções Básicas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Manutenções de Piscinas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Corte de grama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Limpeza de calhas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Limpeza de caixa d´água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Limpeza de caixa de gordura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Serviços elétricos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Desentupimentos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4F0F5E9-DCB2-71EF-48B3-0AEE07968525}"/>
              </a:ext>
            </a:extLst>
          </p:cNvPr>
          <p:cNvSpPr/>
          <p:nvPr/>
        </p:nvSpPr>
        <p:spPr>
          <a:xfrm>
            <a:off x="4258843" y="1842266"/>
            <a:ext cx="3606605" cy="43946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72D076A-04F3-9E1A-7915-2658B5D5CFEC}"/>
              </a:ext>
            </a:extLst>
          </p:cNvPr>
          <p:cNvSpPr/>
          <p:nvPr/>
        </p:nvSpPr>
        <p:spPr>
          <a:xfrm>
            <a:off x="4684761" y="1586189"/>
            <a:ext cx="2592371" cy="389466"/>
          </a:xfrm>
          <a:prstGeom prst="rect">
            <a:avLst/>
          </a:prstGeom>
          <a:solidFill>
            <a:srgbClr val="353E8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Lucida Fax" panose="02060602050505020204" pitchFamily="18" charset="0"/>
              </a:rPr>
              <a:t>ATUALMENTE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4BACC9B-F44C-3105-9A40-7F15D457183A}"/>
              </a:ext>
            </a:extLst>
          </p:cNvPr>
          <p:cNvSpPr txBox="1"/>
          <p:nvPr/>
        </p:nvSpPr>
        <p:spPr>
          <a:xfrm>
            <a:off x="4480137" y="2530169"/>
            <a:ext cx="3128210" cy="3236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Indicações de amigos, familiares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Antigas conexões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Avaliações de outros serviços realizados</a:t>
            </a:r>
          </a:p>
          <a:p>
            <a:pPr>
              <a:lnSpc>
                <a:spcPct val="150000"/>
              </a:lnSpc>
            </a:pPr>
            <a:endParaRPr lang="pt-BR" sz="1600" b="1" i="1" dirty="0">
              <a:latin typeface="Lucida Fax" panose="0206060205050502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pt-BR" sz="1400" b="1" i="1" dirty="0">
                <a:solidFill>
                  <a:srgbClr val="C00000"/>
                </a:solidFill>
                <a:latin typeface="Lucida Fax" panose="02060602050505020204" pitchFamily="18" charset="0"/>
              </a:rPr>
              <a:t>88</a:t>
            </a:r>
            <a:r>
              <a:rPr lang="pt-BR" sz="1100" b="1" i="1" dirty="0">
                <a:solidFill>
                  <a:srgbClr val="C00000"/>
                </a:solidFill>
                <a:latin typeface="Lucida Fax" panose="02060602050505020204" pitchFamily="18" charset="0"/>
              </a:rPr>
              <a:t>%</a:t>
            </a:r>
            <a:r>
              <a:rPr lang="pt-BR" sz="1400" b="1" i="1" dirty="0">
                <a:solidFill>
                  <a:srgbClr val="C00000"/>
                </a:solidFill>
                <a:latin typeface="Lucida Fax" panose="02060602050505020204" pitchFamily="18" charset="0"/>
              </a:rPr>
              <a:t> das pessoas relataram insatisfação com o serviço realizado</a:t>
            </a:r>
          </a:p>
        </p:txBody>
      </p:sp>
      <p:pic>
        <p:nvPicPr>
          <p:cNvPr id="27" name="Gráfico 26" descr="Destinatário com preenchimento sólido">
            <a:extLst>
              <a:ext uri="{FF2B5EF4-FFF2-40B4-BE49-F238E27FC236}">
                <a16:creationId xmlns:a16="http://schemas.microsoft.com/office/drawing/2014/main" id="{9742DB27-C9E6-A612-6698-C06CA16645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52346" y="2092213"/>
            <a:ext cx="457200" cy="457200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1E96759D-EC0D-9D96-1C3C-F0288B42984E}"/>
              </a:ext>
            </a:extLst>
          </p:cNvPr>
          <p:cNvSpPr/>
          <p:nvPr/>
        </p:nvSpPr>
        <p:spPr>
          <a:xfrm>
            <a:off x="8197685" y="1842266"/>
            <a:ext cx="3606605" cy="43946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42C76C1-43D8-85A0-7631-AECB6B0A45C3}"/>
              </a:ext>
            </a:extLst>
          </p:cNvPr>
          <p:cNvSpPr/>
          <p:nvPr/>
        </p:nvSpPr>
        <p:spPr>
          <a:xfrm>
            <a:off x="8679075" y="1586189"/>
            <a:ext cx="2592371" cy="389466"/>
          </a:xfrm>
          <a:prstGeom prst="rect">
            <a:avLst/>
          </a:prstGeom>
          <a:solidFill>
            <a:srgbClr val="353E8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Lucida Fax" panose="02060602050505020204" pitchFamily="18" charset="0"/>
              </a:rPr>
              <a:t>UTILIZAÇÃO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63C0D3B-3A79-39A8-7B5F-A62663D66F4D}"/>
              </a:ext>
            </a:extLst>
          </p:cNvPr>
          <p:cNvSpPr txBox="1"/>
          <p:nvPr/>
        </p:nvSpPr>
        <p:spPr>
          <a:xfrm>
            <a:off x="8474451" y="2530169"/>
            <a:ext cx="3128210" cy="2260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Lucida Fax" panose="02060602050505020204" pitchFamily="18" charset="0"/>
              </a:rPr>
              <a:t>Avaliações de clientes anteriores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Preços – estimativa anterior a contratação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Distância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Lucida Fax" panose="02060602050505020204" pitchFamily="18" charset="0"/>
              </a:rPr>
              <a:t>Tempo de execução</a:t>
            </a:r>
          </a:p>
        </p:txBody>
      </p:sp>
      <p:pic>
        <p:nvPicPr>
          <p:cNvPr id="33" name="Gráfico 32" descr="Estrela com preenchimento sólido">
            <a:extLst>
              <a:ext uri="{FF2B5EF4-FFF2-40B4-BE49-F238E27FC236}">
                <a16:creationId xmlns:a16="http://schemas.microsoft.com/office/drawing/2014/main" id="{2F7D0902-9CBC-1882-6BB4-E8EDF23D7D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91711" y="2055724"/>
            <a:ext cx="493689" cy="49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1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7A83FA7-8AFE-E178-1D5D-580664147C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3E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83B5D6C-AC96-0DD1-AD83-943E571D3428}"/>
              </a:ext>
            </a:extLst>
          </p:cNvPr>
          <p:cNvSpPr/>
          <p:nvPr/>
        </p:nvSpPr>
        <p:spPr>
          <a:xfrm>
            <a:off x="214601" y="-15777"/>
            <a:ext cx="12056533" cy="6688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pic>
        <p:nvPicPr>
          <p:cNvPr id="2050" name="Picture 2" descr="Universidade São Judas Tadeu (USJT) - Lideranças Políticas NEAMP">
            <a:extLst>
              <a:ext uri="{FF2B5EF4-FFF2-40B4-BE49-F238E27FC236}">
                <a16:creationId xmlns:a16="http://schemas.microsoft.com/office/drawing/2014/main" id="{C7A64F05-C5CD-7144-A53A-F8169DD8E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933" y="6203358"/>
            <a:ext cx="863600" cy="379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6C2883A-1DAD-7B4A-1CFB-4DD4146C247C}"/>
              </a:ext>
            </a:extLst>
          </p:cNvPr>
          <p:cNvSpPr/>
          <p:nvPr/>
        </p:nvSpPr>
        <p:spPr>
          <a:xfrm>
            <a:off x="413886" y="382294"/>
            <a:ext cx="45719" cy="587141"/>
          </a:xfrm>
          <a:prstGeom prst="rect">
            <a:avLst/>
          </a:prstGeom>
          <a:solidFill>
            <a:srgbClr val="A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B8E4E4-0BAA-40FC-2A7A-D24E88353F87}"/>
              </a:ext>
            </a:extLst>
          </p:cNvPr>
          <p:cNvSpPr txBox="1"/>
          <p:nvPr/>
        </p:nvSpPr>
        <p:spPr>
          <a:xfrm>
            <a:off x="436745" y="414254"/>
            <a:ext cx="398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</a:rPr>
              <a:t>CONECTA FÁCIL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C7782337-BD5B-D3EB-11F3-76DD845D2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9" name="Modelo 3D 28" descr="Lâmpada de Led Fluorescente">
                <a:extLst>
                  <a:ext uri="{FF2B5EF4-FFF2-40B4-BE49-F238E27FC236}">
                    <a16:creationId xmlns:a16="http://schemas.microsoft.com/office/drawing/2014/main" id="{85659954-E1E6-1F5C-6D4F-95A7B7507F9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57355622"/>
                  </p:ext>
                </p:extLst>
              </p:nvPr>
            </p:nvGraphicFramePr>
            <p:xfrm>
              <a:off x="3567493" y="242542"/>
              <a:ext cx="267220" cy="47081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67220" cy="470816"/>
                    </a:xfrm>
                    <a:prstGeom prst="rect">
                      <a:avLst/>
                    </a:prstGeom>
                  </am3d:spPr>
                  <am3d:camera>
                    <am3d:pos x="0" y="0" z="603549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99330" d="1000000"/>
                    <am3d:preTrans dx="163" dy="123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6235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9" name="Modelo 3D 28" descr="Lâmpada de Led Fluorescente">
                <a:extLst>
                  <a:ext uri="{FF2B5EF4-FFF2-40B4-BE49-F238E27FC236}">
                    <a16:creationId xmlns:a16="http://schemas.microsoft.com/office/drawing/2014/main" id="{85659954-E1E6-1F5C-6D4F-95A7B7507F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7493" y="242542"/>
                <a:ext cx="267220" cy="4708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0" name="Modelo 3D 29" descr="Alicates">
                <a:extLst>
                  <a:ext uri="{FF2B5EF4-FFF2-40B4-BE49-F238E27FC236}">
                    <a16:creationId xmlns:a16="http://schemas.microsoft.com/office/drawing/2014/main" id="{5F985E27-5761-DB90-D347-D34596C444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32853511"/>
                  </p:ext>
                </p:extLst>
              </p:nvPr>
            </p:nvGraphicFramePr>
            <p:xfrm>
              <a:off x="3628743" y="457281"/>
              <a:ext cx="682873" cy="512154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682873" cy="512154"/>
                    </a:xfrm>
                    <a:prstGeom prst="rect">
                      <a:avLst/>
                    </a:prstGeom>
                  </am3d:spPr>
                  <am3d:camera>
                    <am3d:pos x="0" y="0" z="56531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94235" d="1000000"/>
                    <am3d:preTrans dx="-24" dy="-1904236" dz="-8829157"/>
                    <am3d:scale>
                      <am3d:sx n="1000000" d="1000000"/>
                      <am3d:sy n="1000000" d="1000000"/>
                      <am3d:sz n="1000000" d="1000000"/>
                    </am3d:scale>
                    <am3d:rot ax="8012490" ay="2165362" az="8892482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7771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0" name="Modelo 3D 29" descr="Alicates">
                <a:extLst>
                  <a:ext uri="{FF2B5EF4-FFF2-40B4-BE49-F238E27FC236}">
                    <a16:creationId xmlns:a16="http://schemas.microsoft.com/office/drawing/2014/main" id="{5F985E27-5761-DB90-D347-D34596C444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28743" y="457281"/>
                <a:ext cx="682873" cy="512154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11">
            <a:extLst>
              <a:ext uri="{FF2B5EF4-FFF2-40B4-BE49-F238E27FC236}">
                <a16:creationId xmlns:a16="http://schemas.microsoft.com/office/drawing/2014/main" id="{06BB4E90-A1E1-643A-E73C-17FADF3EA178}"/>
              </a:ext>
            </a:extLst>
          </p:cNvPr>
          <p:cNvGrpSpPr/>
          <p:nvPr/>
        </p:nvGrpSpPr>
        <p:grpSpPr>
          <a:xfrm>
            <a:off x="0" y="1067066"/>
            <a:ext cx="4676143" cy="5790934"/>
            <a:chOff x="5972896" y="0"/>
            <a:chExt cx="21091691" cy="27403781"/>
          </a:xfrm>
        </p:grpSpPr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6E169B09-7AC8-441F-B64A-584873EC0D84}"/>
                </a:ext>
              </a:extLst>
            </p:cNvPr>
            <p:cNvSpPr/>
            <p:nvPr/>
          </p:nvSpPr>
          <p:spPr>
            <a:xfrm>
              <a:off x="5972896" y="0"/>
              <a:ext cx="21091691" cy="27403781"/>
            </a:xfrm>
            <a:custGeom>
              <a:avLst/>
              <a:gdLst/>
              <a:ahLst/>
              <a:cxnLst/>
              <a:rect l="l" t="t" r="r" b="b"/>
              <a:pathLst>
                <a:path w="27064590" h="39182703">
                  <a:moveTo>
                    <a:pt x="0" y="0"/>
                  </a:moveTo>
                  <a:lnTo>
                    <a:pt x="27064590" y="0"/>
                  </a:lnTo>
                  <a:lnTo>
                    <a:pt x="27064590" y="39182703"/>
                  </a:lnTo>
                  <a:lnTo>
                    <a:pt x="0" y="39182703"/>
                  </a:lnTo>
                  <a:close/>
                </a:path>
              </a:pathLst>
            </a:custGeom>
            <a:blipFill>
              <a:blip r:embed="rId7"/>
              <a:stretch>
                <a:fillRect l="-29760" r="-1441" b="-42982"/>
              </a:stretch>
            </a:blipFill>
          </p:spPr>
        </p:sp>
      </p:grpSp>
      <p:pic>
        <p:nvPicPr>
          <p:cNvPr id="33" name="Picture 2" descr="Barra De Pesquisa Do Google Janela Clássica Com Sombra PNG , Barra De  Pesquisa Do Google, Barra De Pesquisa, Caixa De Pesquisa Imagem PNG e Vetor  Para Download Gratuito">
            <a:extLst>
              <a:ext uri="{FF2B5EF4-FFF2-40B4-BE49-F238E27FC236}">
                <a16:creationId xmlns:a16="http://schemas.microsoft.com/office/drawing/2014/main" id="{5797D2C1-5E51-87EF-3D99-299D3886E2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5" t="41111" r="4875" b="38667"/>
          <a:stretch/>
        </p:blipFill>
        <p:spPr bwMode="auto">
          <a:xfrm>
            <a:off x="1508910" y="1718980"/>
            <a:ext cx="2295437" cy="29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Trabalhador de manutenção em fundo branco | imagem Premium gerada com IA">
            <a:extLst>
              <a:ext uri="{FF2B5EF4-FFF2-40B4-BE49-F238E27FC236}">
                <a16:creationId xmlns:a16="http://schemas.microsoft.com/office/drawing/2014/main" id="{55315D95-C4A9-BD3F-CDBE-E3ACDDDE20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22" b="-8045"/>
          <a:stretch/>
        </p:blipFill>
        <p:spPr bwMode="auto">
          <a:xfrm>
            <a:off x="1403544" y="2413928"/>
            <a:ext cx="756653" cy="84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574D8445-2FA9-2A83-F08E-92DA3E64F5B3}"/>
              </a:ext>
            </a:extLst>
          </p:cNvPr>
          <p:cNvSpPr txBox="1"/>
          <p:nvPr/>
        </p:nvSpPr>
        <p:spPr>
          <a:xfrm>
            <a:off x="2086831" y="2497373"/>
            <a:ext cx="18224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prstClr val="black"/>
                </a:solidFill>
                <a:latin typeface="Calibri"/>
              </a:rPr>
              <a:t>Nome:</a:t>
            </a:r>
            <a:r>
              <a:rPr lang="pt-BR" sz="1100" dirty="0">
                <a:solidFill>
                  <a:prstClr val="black"/>
                </a:solidFill>
                <a:latin typeface="Calibri"/>
              </a:rPr>
              <a:t> João Carlos Ferreira</a:t>
            </a:r>
            <a:br>
              <a:rPr lang="pt-BR" sz="1100" dirty="0">
                <a:solidFill>
                  <a:prstClr val="black"/>
                </a:solidFill>
                <a:latin typeface="Calibri"/>
              </a:rPr>
            </a:br>
            <a:r>
              <a:rPr lang="pt-BR" sz="1100" b="1" dirty="0">
                <a:solidFill>
                  <a:prstClr val="black"/>
                </a:solidFill>
                <a:latin typeface="Calibri"/>
              </a:rPr>
              <a:t>Idade:</a:t>
            </a:r>
            <a:r>
              <a:rPr lang="pt-BR" sz="1100" dirty="0">
                <a:solidFill>
                  <a:prstClr val="black"/>
                </a:solidFill>
                <a:latin typeface="Calibri"/>
              </a:rPr>
              <a:t> 42 anos</a:t>
            </a:r>
            <a:br>
              <a:rPr lang="pt-BR" sz="1100" dirty="0">
                <a:solidFill>
                  <a:prstClr val="black"/>
                </a:solidFill>
                <a:latin typeface="Calibri"/>
              </a:rPr>
            </a:br>
            <a:r>
              <a:rPr lang="pt-BR" sz="1100" b="1" dirty="0">
                <a:solidFill>
                  <a:prstClr val="black"/>
                </a:solidFill>
                <a:latin typeface="Calibri"/>
              </a:rPr>
              <a:t>Profissão:</a:t>
            </a:r>
            <a:r>
              <a:rPr lang="pt-BR" sz="1100" dirty="0">
                <a:solidFill>
                  <a:prstClr val="black"/>
                </a:solidFill>
                <a:latin typeface="Calibri"/>
              </a:rPr>
              <a:t> Auxiliar de Manutenção</a:t>
            </a:r>
          </a:p>
        </p:txBody>
      </p:sp>
      <p:pic>
        <p:nvPicPr>
          <p:cNvPr id="37" name="Picture 6" descr="Ícone De Localização De Mapa Em Fundo Branco. Sinal De Correio. Estilo  Plano. Ícone De Pino Para O Design Do Seu Site, Logótipo, a Ilustração  Stock - Ilustração de marcador, etiqueta: 131676995">
            <a:extLst>
              <a:ext uri="{FF2B5EF4-FFF2-40B4-BE49-F238E27FC236}">
                <a16:creationId xmlns:a16="http://schemas.microsoft.com/office/drawing/2014/main" id="{6A66F4D1-06A7-4803-BBA9-2B083F829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784" y="3397162"/>
            <a:ext cx="340946" cy="38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903E3A63-EE5B-1560-9FCD-4977B807FE89}"/>
              </a:ext>
            </a:extLst>
          </p:cNvPr>
          <p:cNvSpPr txBox="1"/>
          <p:nvPr/>
        </p:nvSpPr>
        <p:spPr>
          <a:xfrm>
            <a:off x="1897058" y="3399652"/>
            <a:ext cx="243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prstClr val="black"/>
                </a:solidFill>
                <a:latin typeface="Calibri"/>
              </a:rPr>
              <a:t>Butantã - SP</a:t>
            </a:r>
            <a:endParaRPr lang="pt-BR" sz="1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9" name="Picture 8" descr="Comprar Avaliação do Google - Avaliação do Google">
            <a:extLst>
              <a:ext uri="{FF2B5EF4-FFF2-40B4-BE49-F238E27FC236}">
                <a16:creationId xmlns:a16="http://schemas.microsoft.com/office/drawing/2014/main" id="{BFE83417-C4A2-269E-0CB4-E60FA3A255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20" t="5069"/>
          <a:stretch/>
        </p:blipFill>
        <p:spPr bwMode="auto">
          <a:xfrm>
            <a:off x="1505986" y="3870609"/>
            <a:ext cx="1102910" cy="38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 descr="relógio de parede isolado no fundo branco, ilustração vetorial realista  2124422 Vetor no Vecteezy">
            <a:extLst>
              <a:ext uri="{FF2B5EF4-FFF2-40B4-BE49-F238E27FC236}">
                <a16:creationId xmlns:a16="http://schemas.microsoft.com/office/drawing/2014/main" id="{007F7631-1B7C-9648-7AF1-BD774E6AA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364" y="5270676"/>
            <a:ext cx="688227" cy="68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aixaDeTexto 40">
            <a:extLst>
              <a:ext uri="{FF2B5EF4-FFF2-40B4-BE49-F238E27FC236}">
                <a16:creationId xmlns:a16="http://schemas.microsoft.com/office/drawing/2014/main" id="{0A6B3A6E-0F21-0CAE-BF15-B18F96CF8A7C}"/>
              </a:ext>
            </a:extLst>
          </p:cNvPr>
          <p:cNvSpPr txBox="1"/>
          <p:nvPr/>
        </p:nvSpPr>
        <p:spPr>
          <a:xfrm>
            <a:off x="2115204" y="5476290"/>
            <a:ext cx="243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prstClr val="black"/>
                </a:solidFill>
                <a:latin typeface="Calibri"/>
              </a:rPr>
              <a:t>Tempo de serviço: 1h </a:t>
            </a:r>
            <a:endParaRPr lang="pt-BR" sz="1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2" name="Picture 12" descr="Avaliações em Redes Sociais - Valorize as avaliações do seu negócio : Shape  Web Blog">
            <a:extLst>
              <a:ext uri="{FF2B5EF4-FFF2-40B4-BE49-F238E27FC236}">
                <a16:creationId xmlns:a16="http://schemas.microsoft.com/office/drawing/2014/main" id="{EFEA0871-532F-3846-C6E2-40E46B561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354" y="4281004"/>
            <a:ext cx="2353993" cy="80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11">
            <a:extLst>
              <a:ext uri="{FF2B5EF4-FFF2-40B4-BE49-F238E27FC236}">
                <a16:creationId xmlns:a16="http://schemas.microsoft.com/office/drawing/2014/main" id="{07ACB5EE-45F4-C333-B784-540293BCC459}"/>
              </a:ext>
            </a:extLst>
          </p:cNvPr>
          <p:cNvSpPr txBox="1"/>
          <p:nvPr/>
        </p:nvSpPr>
        <p:spPr>
          <a:xfrm>
            <a:off x="6729306" y="5652092"/>
            <a:ext cx="5327227" cy="441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60"/>
              </a:lnSpc>
            </a:pPr>
            <a:r>
              <a:rPr lang="en-US" sz="2000" spc="31" dirty="0">
                <a:solidFill>
                  <a:srgbClr val="3A3A3A"/>
                </a:solidFill>
                <a:latin typeface="Lucida Bright" panose="02040602050505020304" pitchFamily="18" charset="0"/>
                <a:ea typeface="TT Phobos"/>
                <a:cs typeface="TT Phobos"/>
                <a:sym typeface="TT Phobos"/>
              </a:rPr>
              <a:t>“</a:t>
            </a:r>
            <a:r>
              <a:rPr lang="en-US" sz="2000" spc="31" dirty="0" err="1">
                <a:solidFill>
                  <a:srgbClr val="3A3A3A"/>
                </a:solidFill>
                <a:latin typeface="Lucida Bright" panose="02040602050505020304" pitchFamily="18" charset="0"/>
                <a:ea typeface="TT Phobos"/>
                <a:cs typeface="TT Phobos"/>
                <a:sym typeface="TT Phobos"/>
              </a:rPr>
              <a:t>Transformando</a:t>
            </a:r>
            <a:r>
              <a:rPr lang="en-US" sz="2000" spc="31" dirty="0">
                <a:solidFill>
                  <a:srgbClr val="3A3A3A"/>
                </a:solidFill>
                <a:latin typeface="Lucida Bright" panose="02040602050505020304" pitchFamily="18" charset="0"/>
                <a:ea typeface="TT Phobos"/>
                <a:cs typeface="TT Phobos"/>
                <a:sym typeface="TT Phobos"/>
              </a:rPr>
              <a:t> </a:t>
            </a:r>
            <a:r>
              <a:rPr lang="en-US" sz="2000" spc="31" dirty="0" err="1">
                <a:solidFill>
                  <a:srgbClr val="3A3A3A"/>
                </a:solidFill>
                <a:latin typeface="Lucida Bright" panose="02040602050505020304" pitchFamily="18" charset="0"/>
                <a:ea typeface="TT Phobos"/>
                <a:cs typeface="TT Phobos"/>
                <a:sym typeface="TT Phobos"/>
              </a:rPr>
              <a:t>confiança</a:t>
            </a:r>
            <a:r>
              <a:rPr lang="en-US" sz="2000" spc="31" dirty="0">
                <a:solidFill>
                  <a:srgbClr val="3A3A3A"/>
                </a:solidFill>
                <a:latin typeface="Lucida Bright" panose="02040602050505020304" pitchFamily="18" charset="0"/>
                <a:ea typeface="TT Phobos"/>
                <a:cs typeface="TT Phobos"/>
                <a:sym typeface="TT Phobos"/>
              </a:rPr>
              <a:t> </a:t>
            </a:r>
            <a:r>
              <a:rPr lang="en-US" sz="2000" spc="31" dirty="0" err="1">
                <a:solidFill>
                  <a:srgbClr val="3A3A3A"/>
                </a:solidFill>
                <a:latin typeface="Lucida Bright" panose="02040602050505020304" pitchFamily="18" charset="0"/>
                <a:ea typeface="TT Phobos"/>
                <a:cs typeface="TT Phobos"/>
                <a:sym typeface="TT Phobos"/>
              </a:rPr>
              <a:t>em</a:t>
            </a:r>
            <a:r>
              <a:rPr lang="en-US" sz="2000" spc="31" dirty="0">
                <a:solidFill>
                  <a:srgbClr val="3A3A3A"/>
                </a:solidFill>
                <a:latin typeface="Lucida Bright" panose="02040602050505020304" pitchFamily="18" charset="0"/>
                <a:ea typeface="TT Phobos"/>
                <a:cs typeface="TT Phobos"/>
                <a:sym typeface="TT Phobos"/>
              </a:rPr>
              <a:t> </a:t>
            </a:r>
            <a:r>
              <a:rPr lang="en-US" sz="2000" spc="31" dirty="0" err="1">
                <a:solidFill>
                  <a:srgbClr val="3A3A3A"/>
                </a:solidFill>
                <a:latin typeface="Lucida Bright" panose="02040602050505020304" pitchFamily="18" charset="0"/>
                <a:ea typeface="TT Phobos"/>
                <a:cs typeface="TT Phobos"/>
                <a:sym typeface="TT Phobos"/>
              </a:rPr>
              <a:t>conexão</a:t>
            </a:r>
            <a:r>
              <a:rPr lang="en-US" sz="2000" spc="31" dirty="0">
                <a:solidFill>
                  <a:srgbClr val="3A3A3A"/>
                </a:solidFill>
                <a:latin typeface="Lucida Bright" panose="02040602050505020304" pitchFamily="18" charset="0"/>
                <a:ea typeface="TT Phobos"/>
                <a:cs typeface="TT Phobos"/>
                <a:sym typeface="TT Phobos"/>
              </a:rPr>
              <a:t>”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1D0E8680-5C72-0486-02A8-FB73DEE40132}"/>
              </a:ext>
            </a:extLst>
          </p:cNvPr>
          <p:cNvCxnSpPr/>
          <p:nvPr/>
        </p:nvCxnSpPr>
        <p:spPr>
          <a:xfrm flipV="1">
            <a:off x="3394470" y="1580837"/>
            <a:ext cx="1557342" cy="141767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A16242DB-AEE9-5058-104D-343A66FE74CC}"/>
              </a:ext>
            </a:extLst>
          </p:cNvPr>
          <p:cNvCxnSpPr>
            <a:cxnSpLocks/>
          </p:cNvCxnSpPr>
          <p:nvPr/>
        </p:nvCxnSpPr>
        <p:spPr>
          <a:xfrm>
            <a:off x="4951812" y="1571875"/>
            <a:ext cx="266224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D87BD25-611C-9E41-8C84-7D1437C657C1}"/>
              </a:ext>
            </a:extLst>
          </p:cNvPr>
          <p:cNvSpPr txBox="1"/>
          <p:nvPr/>
        </p:nvSpPr>
        <p:spPr>
          <a:xfrm>
            <a:off x="4890744" y="1008371"/>
            <a:ext cx="4143819" cy="523220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</a:rPr>
              <a:t>Informações pessoais da pessoa: nome, idade, foto, endereço  </a:t>
            </a: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Bright" panose="02040602050505020304" pitchFamily="18" charset="0"/>
            </a:endParaRP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992BDD84-35A9-CC89-B003-69D51D60599F}"/>
              </a:ext>
            </a:extLst>
          </p:cNvPr>
          <p:cNvCxnSpPr>
            <a:cxnSpLocks/>
          </p:cNvCxnSpPr>
          <p:nvPr/>
        </p:nvCxnSpPr>
        <p:spPr>
          <a:xfrm>
            <a:off x="5008924" y="3055876"/>
            <a:ext cx="266224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30C7FD37-7F6C-AF3D-346D-0B138310E383}"/>
              </a:ext>
            </a:extLst>
          </p:cNvPr>
          <p:cNvCxnSpPr/>
          <p:nvPr/>
        </p:nvCxnSpPr>
        <p:spPr>
          <a:xfrm flipV="1">
            <a:off x="3451582" y="3047759"/>
            <a:ext cx="1557342" cy="141767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D980857-2D34-91EF-2DF9-6EBD48B04048}"/>
              </a:ext>
            </a:extLst>
          </p:cNvPr>
          <p:cNvSpPr txBox="1"/>
          <p:nvPr/>
        </p:nvSpPr>
        <p:spPr>
          <a:xfrm>
            <a:off x="5000456" y="2085747"/>
            <a:ext cx="3480558" cy="95410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</a:rPr>
              <a:t>100% dos entrevistados informaram que avaliações anteriores são o DIFERENCIAL para contratação do profissional</a:t>
            </a: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Bright" panose="02040602050505020304" pitchFamily="18" charset="0"/>
            </a:endParaRPr>
          </a:p>
        </p:txBody>
      </p:sp>
      <p:pic>
        <p:nvPicPr>
          <p:cNvPr id="60" name="Picture 2" descr="Barra De Pesquisa Do Google Janela Clássica Com Sombra PNG , Barra De  Pesquisa Do Google, Barra De Pesquisa, Caixa De Pesquisa Imagem PNG e Vetor  Para Download Gratuito">
            <a:extLst>
              <a:ext uri="{FF2B5EF4-FFF2-40B4-BE49-F238E27FC236}">
                <a16:creationId xmlns:a16="http://schemas.microsoft.com/office/drawing/2014/main" id="{AF1C47C4-0AED-9504-0F92-E19A3CFB66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5" t="41111" r="4875" b="38667"/>
          <a:stretch/>
        </p:blipFill>
        <p:spPr bwMode="auto">
          <a:xfrm>
            <a:off x="1505986" y="2054160"/>
            <a:ext cx="2295437" cy="29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FEF0B0E3-F98E-AFC8-95B9-8BCDF2C32556}"/>
              </a:ext>
            </a:extLst>
          </p:cNvPr>
          <p:cNvSpPr txBox="1"/>
          <p:nvPr/>
        </p:nvSpPr>
        <p:spPr>
          <a:xfrm>
            <a:off x="1575376" y="2001999"/>
            <a:ext cx="1463881" cy="338554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Tipo de serviço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...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780CB3F-147B-15A1-4F4F-7E5BB5901CF4}"/>
              </a:ext>
            </a:extLst>
          </p:cNvPr>
          <p:cNvSpPr txBox="1"/>
          <p:nvPr/>
        </p:nvSpPr>
        <p:spPr>
          <a:xfrm>
            <a:off x="1575376" y="1669439"/>
            <a:ext cx="146388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Profissional</a:t>
            </a: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63" name="Gráfico 62" descr="Dinheiro com preenchimento sólido">
            <a:extLst>
              <a:ext uri="{FF2B5EF4-FFF2-40B4-BE49-F238E27FC236}">
                <a16:creationId xmlns:a16="http://schemas.microsoft.com/office/drawing/2014/main" id="{2D257122-CE19-E213-1CE9-AEA2C5113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26257" y="5902005"/>
            <a:ext cx="372979" cy="372979"/>
          </a:xfrm>
          <a:prstGeom prst="rect">
            <a:avLst/>
          </a:prstGeom>
        </p:spPr>
      </p:pic>
      <p:sp>
        <p:nvSpPr>
          <p:cNvPr id="2048" name="CaixaDeTexto 2047">
            <a:extLst>
              <a:ext uri="{FF2B5EF4-FFF2-40B4-BE49-F238E27FC236}">
                <a16:creationId xmlns:a16="http://schemas.microsoft.com/office/drawing/2014/main" id="{5EFB83A5-7CB7-4D01-43D4-C5805BCA1B91}"/>
              </a:ext>
            </a:extLst>
          </p:cNvPr>
          <p:cNvSpPr txBox="1"/>
          <p:nvPr/>
        </p:nvSpPr>
        <p:spPr>
          <a:xfrm>
            <a:off x="2086831" y="5949994"/>
            <a:ext cx="243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prstClr val="black"/>
                </a:solidFill>
                <a:latin typeface="Calibri"/>
              </a:rPr>
              <a:t>Valor</a:t>
            </a:r>
            <a:endParaRPr lang="pt-BR" sz="12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052" name="Conector reto 2051">
            <a:extLst>
              <a:ext uri="{FF2B5EF4-FFF2-40B4-BE49-F238E27FC236}">
                <a16:creationId xmlns:a16="http://schemas.microsoft.com/office/drawing/2014/main" id="{E6615088-8555-FDD9-3846-8A6B2C6926C4}"/>
              </a:ext>
            </a:extLst>
          </p:cNvPr>
          <p:cNvCxnSpPr/>
          <p:nvPr/>
        </p:nvCxnSpPr>
        <p:spPr>
          <a:xfrm flipV="1">
            <a:off x="3206396" y="4638628"/>
            <a:ext cx="1557342" cy="141767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3" name="Conector reto 2052">
            <a:extLst>
              <a:ext uri="{FF2B5EF4-FFF2-40B4-BE49-F238E27FC236}">
                <a16:creationId xmlns:a16="http://schemas.microsoft.com/office/drawing/2014/main" id="{FE9FA0D0-4DB2-0F5D-94C7-B64476BD157F}"/>
              </a:ext>
            </a:extLst>
          </p:cNvPr>
          <p:cNvCxnSpPr>
            <a:cxnSpLocks/>
          </p:cNvCxnSpPr>
          <p:nvPr/>
        </p:nvCxnSpPr>
        <p:spPr>
          <a:xfrm>
            <a:off x="4764879" y="4638628"/>
            <a:ext cx="266224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4" name="CaixaDeTexto 2053">
            <a:extLst>
              <a:ext uri="{FF2B5EF4-FFF2-40B4-BE49-F238E27FC236}">
                <a16:creationId xmlns:a16="http://schemas.microsoft.com/office/drawing/2014/main" id="{15671F26-5AAC-6AE8-EA94-E6867003BA07}"/>
              </a:ext>
            </a:extLst>
          </p:cNvPr>
          <p:cNvSpPr txBox="1"/>
          <p:nvPr/>
        </p:nvSpPr>
        <p:spPr>
          <a:xfrm>
            <a:off x="4792863" y="4253969"/>
            <a:ext cx="2878303" cy="30777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</a:rPr>
              <a:t>Preço e tempo de entrega</a:t>
            </a: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Bright" panose="02040602050505020304" pitchFamily="18" charset="0"/>
            </a:endParaRPr>
          </a:p>
        </p:txBody>
      </p:sp>
      <p:sp>
        <p:nvSpPr>
          <p:cNvPr id="2055" name="Retângulo 2054">
            <a:extLst>
              <a:ext uri="{FF2B5EF4-FFF2-40B4-BE49-F238E27FC236}">
                <a16:creationId xmlns:a16="http://schemas.microsoft.com/office/drawing/2014/main" id="{76871326-C29F-3BC5-189B-46DFEB01515D}"/>
              </a:ext>
            </a:extLst>
          </p:cNvPr>
          <p:cNvSpPr/>
          <p:nvPr/>
        </p:nvSpPr>
        <p:spPr>
          <a:xfrm>
            <a:off x="8957739" y="1737066"/>
            <a:ext cx="3055823" cy="30594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5635BA3-E087-CC58-28EA-257574AF84F5}"/>
              </a:ext>
            </a:extLst>
          </p:cNvPr>
          <p:cNvSpPr txBox="1"/>
          <p:nvPr/>
        </p:nvSpPr>
        <p:spPr>
          <a:xfrm>
            <a:off x="9570280" y="2164426"/>
            <a:ext cx="2287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</a:rPr>
              <a:t>SEGURANÇA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Bright" panose="02040602050505020304" pitchFamily="18" charset="0"/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A8F27D17-FEA0-A895-2B33-B6FA260AEE62}"/>
              </a:ext>
            </a:extLst>
          </p:cNvPr>
          <p:cNvSpPr txBox="1"/>
          <p:nvPr/>
        </p:nvSpPr>
        <p:spPr>
          <a:xfrm>
            <a:off x="9561223" y="2537658"/>
            <a:ext cx="2573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</a:rPr>
              <a:t>AVALIAÇÕES ANTERIORES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Bright" panose="02040602050505020304" pitchFamily="18" charset="0"/>
            </a:endParaRPr>
          </a:p>
        </p:txBody>
      </p:sp>
      <p:pic>
        <p:nvPicPr>
          <p:cNvPr id="2049" name="Gráfico 2048" descr="Marca de seleção com preenchimento sólido">
            <a:extLst>
              <a:ext uri="{FF2B5EF4-FFF2-40B4-BE49-F238E27FC236}">
                <a16:creationId xmlns:a16="http://schemas.microsoft.com/office/drawing/2014/main" id="{19C5C672-07BA-5C01-FA6F-7554B65498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05535" y="3523075"/>
            <a:ext cx="353938" cy="268543"/>
          </a:xfrm>
          <a:prstGeom prst="rect">
            <a:avLst/>
          </a:prstGeom>
        </p:spPr>
      </p:pic>
      <p:sp>
        <p:nvSpPr>
          <p:cNvPr id="2051" name="CaixaDeTexto 2050">
            <a:extLst>
              <a:ext uri="{FF2B5EF4-FFF2-40B4-BE49-F238E27FC236}">
                <a16:creationId xmlns:a16="http://schemas.microsoft.com/office/drawing/2014/main" id="{FE48B2CD-5504-CB7D-2C88-A9849B005F65}"/>
              </a:ext>
            </a:extLst>
          </p:cNvPr>
          <p:cNvSpPr txBox="1"/>
          <p:nvPr/>
        </p:nvSpPr>
        <p:spPr>
          <a:xfrm>
            <a:off x="9561223" y="3028424"/>
            <a:ext cx="2573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</a:rPr>
              <a:t>ESTIMATIVA DE VALOR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Bright" panose="02040602050505020304" pitchFamily="18" charset="0"/>
            </a:endParaRPr>
          </a:p>
        </p:txBody>
      </p:sp>
      <p:sp>
        <p:nvSpPr>
          <p:cNvPr id="2056" name="CaixaDeTexto 2055">
            <a:extLst>
              <a:ext uri="{FF2B5EF4-FFF2-40B4-BE49-F238E27FC236}">
                <a16:creationId xmlns:a16="http://schemas.microsoft.com/office/drawing/2014/main" id="{1F9BEB7F-3BB0-C6A4-AA68-8B18582D61D9}"/>
              </a:ext>
            </a:extLst>
          </p:cNvPr>
          <p:cNvSpPr txBox="1"/>
          <p:nvPr/>
        </p:nvSpPr>
        <p:spPr>
          <a:xfrm>
            <a:off x="9561223" y="3410895"/>
            <a:ext cx="2573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</a:rPr>
              <a:t>ESTIMATIVA DE TEMPO DE EXECUÇÃO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Bright" panose="02040602050505020304" pitchFamily="18" charset="0"/>
            </a:endParaRPr>
          </a:p>
        </p:txBody>
      </p:sp>
      <p:pic>
        <p:nvPicPr>
          <p:cNvPr id="2057" name="Gráfico 2056" descr="Marca de seleção com preenchimento sólido">
            <a:extLst>
              <a:ext uri="{FF2B5EF4-FFF2-40B4-BE49-F238E27FC236}">
                <a16:creationId xmlns:a16="http://schemas.microsoft.com/office/drawing/2014/main" id="{9147A876-F856-8971-0DF3-4796E26BA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05535" y="3088924"/>
            <a:ext cx="353938" cy="268543"/>
          </a:xfrm>
          <a:prstGeom prst="rect">
            <a:avLst/>
          </a:prstGeom>
        </p:spPr>
      </p:pic>
      <p:pic>
        <p:nvPicPr>
          <p:cNvPr id="2058" name="Gráfico 2057" descr="Marca de seleção com preenchimento sólido">
            <a:extLst>
              <a:ext uri="{FF2B5EF4-FFF2-40B4-BE49-F238E27FC236}">
                <a16:creationId xmlns:a16="http://schemas.microsoft.com/office/drawing/2014/main" id="{B3A58824-42BC-856C-24EC-153878FAB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05535" y="2190131"/>
            <a:ext cx="353938" cy="268543"/>
          </a:xfrm>
          <a:prstGeom prst="rect">
            <a:avLst/>
          </a:prstGeom>
        </p:spPr>
      </p:pic>
      <p:pic>
        <p:nvPicPr>
          <p:cNvPr id="2059" name="Gráfico 2058" descr="Marca de seleção com preenchimento sólido">
            <a:extLst>
              <a:ext uri="{FF2B5EF4-FFF2-40B4-BE49-F238E27FC236}">
                <a16:creationId xmlns:a16="http://schemas.microsoft.com/office/drawing/2014/main" id="{611DD035-A1FD-01A9-6C00-2AC0476CE6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05535" y="2650339"/>
            <a:ext cx="353938" cy="268543"/>
          </a:xfrm>
          <a:prstGeom prst="rect">
            <a:avLst/>
          </a:prstGeom>
        </p:spPr>
      </p:pic>
      <p:sp>
        <p:nvSpPr>
          <p:cNvPr id="2060" name="Retângulo 2059">
            <a:extLst>
              <a:ext uri="{FF2B5EF4-FFF2-40B4-BE49-F238E27FC236}">
                <a16:creationId xmlns:a16="http://schemas.microsoft.com/office/drawing/2014/main" id="{7D2DE601-DB13-9AE1-F316-2ABCBF62C7F1}"/>
              </a:ext>
            </a:extLst>
          </p:cNvPr>
          <p:cNvSpPr/>
          <p:nvPr/>
        </p:nvSpPr>
        <p:spPr>
          <a:xfrm>
            <a:off x="9233408" y="1510100"/>
            <a:ext cx="2592371" cy="389466"/>
          </a:xfrm>
          <a:prstGeom prst="rect">
            <a:avLst/>
          </a:prstGeom>
          <a:solidFill>
            <a:srgbClr val="353E8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Lucida Fax" panose="02060602050505020204" pitchFamily="18" charset="0"/>
              </a:rPr>
              <a:t>OFERTAS</a:t>
            </a:r>
          </a:p>
        </p:txBody>
      </p:sp>
    </p:spTree>
    <p:extLst>
      <p:ext uri="{BB962C8B-B14F-4D97-AF65-F5344CB8AC3E}">
        <p14:creationId xmlns:p14="http://schemas.microsoft.com/office/powerpoint/2010/main" val="115595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303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BYD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marcelo.tajiki@byd.com</dc:creator>
  <cp:lastModifiedBy>Kaue Soares</cp:lastModifiedBy>
  <cp:revision>9</cp:revision>
  <dcterms:created xsi:type="dcterms:W3CDTF">2026-06-10T22:03:39Z</dcterms:created>
  <dcterms:modified xsi:type="dcterms:W3CDTF">2026-06-12T18:02:57Z</dcterms:modified>
</cp:coreProperties>
</file>